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6A3F3F-F1A7-4FE9-9863-B9F27C8223D5}">
  <a:tblStyle styleId="{B96A3F3F-F1A7-4FE9-9863-B9F27C8223D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Presentación de 15 minutos. Recorrido del proceso: monolito de partida, los 4 pasos DDD del enunciado, y demo en vivo (video) por microservicio.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minutos: ~7 de proceso DDD y ~6 de demos, 2 de cierre.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monolito funciona, pero no protege ninguna regla de negocio: el controlador recibe la entidad JPA directamente.</a:t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subdominio tiene su propio motivo de cambio. El único cruce real es Clase → Entrenador.</a:t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evaluó fusionar Programación y Personal, pero se mantuvieron separados para que la comunicación REST sea parte visible de la arquitectura.</a:t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Aquí es donde el modelo deja de ser anémico: las invariantes pasan a vivir dentro del agregado.</a:t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value object valida en su constructor y lanza IllegalArgumentException, que el GlobalExceptionHandler traduce a 400.</a:t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misma forma se repite en Email, Cantidad y EntrenadorId: validación en el constructor del value object.</a:t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 GlobalExceptionHandler por microservicio. Las invariantes de dominio salen como 400; los conflictos de aplicación como 409/404.</a:t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microservicio es un proyecto Maven independiente con su propia base H2 en memoria y su propio DataLoader.</a:t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microservicio expone su puerto al host: 8081-8084. Los datos de ejemplo los carga un DataLoader por servicio.</a:t>
            </a:r>
            <a:endParaRPr/>
          </a:p>
        </p:txBody>
      </p:sp>
      <p:sp>
        <p:nvSpPr>
          <p:cNvPr id="208" name="Google Shape;2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 la única dependencia saliente del sistema. El DataLoader de ms-programacion guarda directo en el repositorio porque en el arranque ms-personal puede no estar listo.</a:t>
            </a:r>
            <a:endParaRPr/>
          </a:p>
        </p:txBody>
      </p:sp>
      <p:sp>
        <p:nvSpPr>
          <p:cNvPr id="222" name="Google Shape;2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ive.google.com/file/d/1wgN7RypujHIp2NeOOko1DXQKg4KPKhAS/view" TargetMode="External"/><Relationship Id="rId4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O1tToXD4fWxkyjQMFwR27I8JPW3fAjMD/view" TargetMode="External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9-fyJ0b-ynScqjh8RpD8EblejUO3EyMS/view" TargetMode="External"/><Relationship Id="rId4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drive.google.com/file/d/1xxcnRbvq1OQhPCN8qaSZ6MNY1wW4zMzW/view" TargetMode="External"/><Relationship Id="rId4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16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647718" y="2238345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TALLER DE DOMAIN-DRIVEN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647718" y="2649825"/>
            <a:ext cx="10515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monolito a microservicios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647718" y="3518505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BC7"/>
              </a:buClr>
              <a:buSzPts val="2800"/>
              <a:buFont typeface="Cambria"/>
              <a:buNone/>
            </a:pPr>
            <a:r>
              <a:rPr b="0" i="0" lang="en-US" sz="2800" u="none" cap="none" strike="noStrike">
                <a:solidFill>
                  <a:srgbClr val="AEBBC7"/>
                </a:solidFill>
                <a:latin typeface="Cambria"/>
                <a:ea typeface="Cambria"/>
                <a:cs typeface="Cambria"/>
                <a:sym typeface="Cambria"/>
              </a:rPr>
              <a:t>Sistema de gestión de un gimnasio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662993" y="4112935"/>
            <a:ext cx="10881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697A6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8697A6"/>
                </a:solidFill>
                <a:latin typeface="Courier New"/>
                <a:ea typeface="Courier New"/>
                <a:cs typeface="Courier New"/>
                <a:sym typeface="Courier New"/>
              </a:rPr>
              <a:t>Por Martin Gomez Caicedo y Juan Camilo Muñoz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64008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RECORRIDO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600200"/>
            <a:ext cx="5148072" cy="1207008"/>
          </a:xfrm>
          <a:prstGeom prst="roundRect">
            <a:avLst>
              <a:gd fmla="val 6061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841248" y="1746504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552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600200" y="178308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El monolito de partida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600200" y="21488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GimnasioController, GimnasioService y 4 entidades JPA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0" y="1600200"/>
            <a:ext cx="5148072" cy="1207008"/>
          </a:xfrm>
          <a:prstGeom prst="roundRect">
            <a:avLst>
              <a:gd fmla="val 6061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6601968" y="1746504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552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7360920" y="178308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Paso 1 — Analizar el dominio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7360920" y="214884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Subdominios, atributos y acoplamientos reales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3081528"/>
            <a:ext cx="5148072" cy="1207008"/>
          </a:xfrm>
          <a:prstGeom prst="roundRect">
            <a:avLst>
              <a:gd fmla="val 6061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841248" y="3227832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552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600200" y="326440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Paso 2 — Contextos acotados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600200" y="363016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Membresías, Programación, Personal, Inventario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0" y="3081528"/>
            <a:ext cx="5148072" cy="1207008"/>
          </a:xfrm>
          <a:prstGeom prst="roundRect">
            <a:avLst>
              <a:gd fmla="val 6061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6601968" y="3227832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552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7360920" y="326440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Paso 3 — Agregados e invariantes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7360920" y="363016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Value objects, factory methods y DTOs de request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0080" y="4562856"/>
            <a:ext cx="5148072" cy="1207008"/>
          </a:xfrm>
          <a:prstGeom prst="roundRect">
            <a:avLst>
              <a:gd fmla="val 6061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841248" y="47091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552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600200" y="474573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Paso 4 — Los 4 microservicios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1600200" y="5111496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Puertos, endpoints, despliegue y llamada REST cruzada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0" y="4562856"/>
            <a:ext cx="5148072" cy="1207008"/>
          </a:xfrm>
          <a:prstGeom prst="roundRect">
            <a:avLst>
              <a:gd fmla="val 6061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6601968" y="47091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552F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7360920" y="474573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Demo por microservicio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7360920" y="5111496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Casos válidos e inválidos sobre cada contexto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64008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PUNTO DE PARTIDA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El monolito: monilito-gimnasio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40080" y="1600200"/>
            <a:ext cx="5577840" cy="4160520"/>
          </a:xfrm>
          <a:prstGeom prst="roundRect">
            <a:avLst>
              <a:gd fmla="val 1758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896112" y="17830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Componentes originales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896112" y="21945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GimnasioController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896112" y="248716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@RequestMapping("/api/gimnasio") — 8 endpoints: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POST/GET de miembros, clases, entrenadores y equipos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896112" y="33375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GimnasioService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896112" y="363016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Un único servicio con 4 repositorios @Autowired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(Miembro, Clase, Entrenador, Equipo)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896112" y="44805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4 entidades JPA @Data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896112" y="477316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Miembro, Clase, Entrenador, Equipo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en un solo esquema H2 compartido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92240" y="1655064"/>
            <a:ext cx="201168" cy="201168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6858000" y="1600200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Sin invariantes de dominio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6858000" y="1911096"/>
            <a:ext cx="4709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El @RequestBody enlaza el JSON directo a la entidad: se puede guardar cantidad = -5 o un email mal formado.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492240" y="2715768"/>
            <a:ext cx="201168" cy="201168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6858000" y="2660904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Modelo anémico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6858000" y="2971800"/>
            <a:ext cx="4709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@Data expone todos los setters; la entidad no protege nada, la lógica vive fuera de ella.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492240" y="3776472"/>
            <a:ext cx="201168" cy="201168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 txBox="1"/>
          <p:nvPr/>
        </p:nvSpPr>
        <p:spPr>
          <a:xfrm>
            <a:off x="6858000" y="3721608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Un solo motivo de cambio... aparente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6858000" y="4032504"/>
            <a:ext cx="4709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Cuatro subdominios con ciclos de vida distintos comparten servicio, controlador y base de datos.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492240" y="4837176"/>
            <a:ext cx="201168" cy="201168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 txBox="1"/>
          <p:nvPr/>
        </p:nvSpPr>
        <p:spPr>
          <a:xfrm>
            <a:off x="6858000" y="4782312"/>
            <a:ext cx="4709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Único acoplamiento real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6858000" y="5093208"/>
            <a:ext cx="4709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Clase → Entrenador vía @ManyToOne: es lo único que obliga a compartir esquema.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129844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PASO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1298448" y="603504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Analizar el dominio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p6"/>
          <p:cNvGraphicFramePr/>
          <p:nvPr/>
        </p:nvGraphicFramePr>
        <p:xfrm>
          <a:off x="640080" y="15361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{B96A3F3F-F1A7-4FE9-9863-B9F27C8223D5}</a:tableStyleId>
              </a:tblPr>
              <a:tblGrid>
                <a:gridCol w="1737350"/>
                <a:gridCol w="1737350"/>
                <a:gridCol w="4416550"/>
                <a:gridCol w="30175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Subdominio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Entidad JPA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Atributos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Relaciones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Miembros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Miembro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id, nombre, email, fechaInscripcion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Ninguna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id, nombre, horario, capacidadMaxima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@ManyToOne Entrenador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Entrenadores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Entrenador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id, nombre, especialidad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Ninguna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Equipo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id, nombre, descripcion, cantidad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Ninguna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6"/>
          <p:cNvSpPr/>
          <p:nvPr/>
        </p:nvSpPr>
        <p:spPr>
          <a:xfrm>
            <a:off x="640080" y="4160520"/>
            <a:ext cx="10908792" cy="2011680"/>
          </a:xfrm>
          <a:prstGeom prst="roundRect">
            <a:avLst>
              <a:gd fmla="val 3636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914400" y="4370832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Observaciones clave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914400" y="4736592"/>
            <a:ext cx="103327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Miembros, Entrenadores y Equipos son subdominios autocontenidos: no tienen relaciones JPA hacia otras entidades.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Clases es el único subdominio acoplado (Clase.entrenador), lo que hoy obliga a compartir base de datos con Entrenadores.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No existe relación Miembro↔Clase ni Clase↔Equipo: cada contexto puede evolucionar sin arrastrar a los demás.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129844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PASO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1298448" y="603504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Definir los contextos acotados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640080" y="1298448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Se nombran por la capacidad de negocio, no por la entidad JPA que hoy los respalda: el nombre no queda atado al modelo de datos actual.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40080" y="1783080"/>
            <a:ext cx="2587752" cy="2240280"/>
          </a:xfrm>
          <a:prstGeom prst="roundRect">
            <a:avLst>
              <a:gd fmla="val 3265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896112" y="1975104"/>
            <a:ext cx="219456" cy="219456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896112" y="2286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Membresías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896112" y="26517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Alta y consulta de socios del gimnasio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896112" y="3566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8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B84"/>
                </a:solidFill>
                <a:latin typeface="Courier New"/>
                <a:ea typeface="Courier New"/>
                <a:cs typeface="Courier New"/>
                <a:sym typeface="Courier New"/>
              </a:rPr>
              <a:t>Miembro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429000" y="1783080"/>
            <a:ext cx="2587752" cy="2240280"/>
          </a:xfrm>
          <a:prstGeom prst="roundRect">
            <a:avLst>
              <a:gd fmla="val 3265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3685032" y="1975104"/>
            <a:ext cx="219456" cy="219456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3685032" y="2286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Programación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3685032" y="26517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Programación de clases, horario y capacidad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3685032" y="3566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8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B84"/>
                </a:solidFill>
                <a:latin typeface="Courier New"/>
                <a:ea typeface="Courier New"/>
                <a:cs typeface="Courier New"/>
                <a:sym typeface="Courier New"/>
              </a:rPr>
              <a:t>Clase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217920" y="1783080"/>
            <a:ext cx="2587752" cy="2240280"/>
          </a:xfrm>
          <a:prstGeom prst="roundRect">
            <a:avLst>
              <a:gd fmla="val 3265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473952" y="1975104"/>
            <a:ext cx="219456" cy="219456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6473952" y="2286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Personal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6473952" y="26517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Alta y consulta del personal que dicta clases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6473952" y="3566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8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B84"/>
                </a:solidFill>
                <a:latin typeface="Courier New"/>
                <a:ea typeface="Courier New"/>
                <a:cs typeface="Courier New"/>
                <a:sym typeface="Courier New"/>
              </a:rPr>
              <a:t>Entrenador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9006840" y="1783080"/>
            <a:ext cx="2587752" cy="2240280"/>
          </a:xfrm>
          <a:prstGeom prst="roundRect">
            <a:avLst>
              <a:gd fmla="val 3265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9262872" y="1975104"/>
            <a:ext cx="219456" cy="219456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 txBox="1"/>
          <p:nvPr/>
        </p:nvSpPr>
        <p:spPr>
          <a:xfrm>
            <a:off x="9262872" y="22860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Inventario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9262872" y="265176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Gestión del equipamiento del gimnasio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9262872" y="35661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84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E8B84"/>
                </a:solidFill>
                <a:latin typeface="Courier New"/>
                <a:ea typeface="Courier New"/>
                <a:cs typeface="Courier New"/>
                <a:sym typeface="Courier New"/>
              </a:rPr>
              <a:t>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40080" y="4297680"/>
            <a:ext cx="10908792" cy="1691640"/>
          </a:xfrm>
          <a:prstGeom prst="roundRect">
            <a:avLst>
              <a:gd fmla="val 4324" name="adj"/>
            </a:avLst>
          </a:prstGeom>
          <a:solidFill>
            <a:srgbClr val="FDF0EB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914400" y="4480560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El único cruce entre contextos: Programación → Personal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Para que cada contexto tenga su propia base de datos (database-per-service), la relación deja de ser un 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@ManyToOne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 JPA y pasa a ser una referencia por id (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entrenadorId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), resuelta vía llamada REST al contexto Personal cuando se necesita el detalle.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129844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PASO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1298448" y="603504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Entidades, agregados y servicios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640080" y="1298448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No hay sub-entidades internas en el monolito actual, así que raíz de agregado = entidad. Cada agregado conserva su propio *Repository y *Service.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8"/>
          <p:cNvGraphicFramePr/>
          <p:nvPr/>
        </p:nvGraphicFramePr>
        <p:xfrm>
          <a:off x="64008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{B96A3F3F-F1A7-4FE9-9863-B9F27C8223D5}</a:tableStyleId>
              </a:tblPr>
              <a:tblGrid>
                <a:gridCol w="2194550"/>
                <a:gridCol w="2377450"/>
                <a:gridCol w="63368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Raíz de agregado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Invariantes / responsabilidad del servicio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Membresías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Miembro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Unicidad de email; fecha de inscripción por defecto = hoy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capacidadMaxima &gt; 0; entrenadorId debe existir (validado contra el contexto Personal)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Entrenador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Nombre no vacío; especialidad restringida a un catálogo cerrado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Inventario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Equipo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&gt;= 0 (control de inventario)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8"/>
          <p:cNvSpPr/>
          <p:nvPr/>
        </p:nvSpPr>
        <p:spPr>
          <a:xfrm>
            <a:off x="640080" y="4251960"/>
            <a:ext cx="10908792" cy="1280160"/>
          </a:xfrm>
          <a:prstGeom prst="roundRect">
            <a:avLst>
              <a:gd fmla="val 5714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914400" y="4389120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El refactor es, sobre todo, de empaquetado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914400" y="4700016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Repositorios y servicios ya estaban separados en el monolito: se mueven a proyectos independientes. El cambio de modelo real es Clase.entrenador → Clase.entrenadorId, más las invariantes que ahora sí se protegen.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64008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PASO 3 · 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Los value objects y sus invariantes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9"/>
          <p:cNvGraphicFramePr/>
          <p:nvPr/>
        </p:nvGraphicFramePr>
        <p:xfrm>
          <a:off x="64008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{B96A3F3F-F1A7-4FE9-9863-B9F27C8223D5}</a:tableStyleId>
              </a:tblPr>
              <a:tblGrid>
                <a:gridCol w="1600200"/>
                <a:gridCol w="1965950"/>
                <a:gridCol w="5148075"/>
                <a:gridCol w="21945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 object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Invariante que protege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Mapeo JPA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Membresías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Email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Formato válido de correo (regex); se normaliza a minúsculas. La unicidad la verifica MiembroService antes de construir el agregado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@Embeddable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Capacidad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capacidadMaxima &gt; 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@Embeddable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EntrenadorId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id de entrenador no puede ser nulo; tipo distinto de ClaseId para no confundir referencias entre contextos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@Embeddable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ClaseId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id de clase no puede ser nulo; se usa en ClaseService / ClaseController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alibri"/>
                        <a:buNone/>
                      </a:pPr>
                      <a:r>
                        <a:rPr i="1" lang="en-US" sz="115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mapeado (el @Id sigue siendo Long autogenerado)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Inventario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Cantidad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cantidad &gt;= 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@Embeddable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Especialidad (enum)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Catálogo cerrado: YOGA, SPINNING, CROSSFIT, PILATES, MUSCULACION, NATACION, BOXEO, ZUMBA, FUNCIONAL, CALISTENIA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@Enumerated(STRING)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9"/>
          <p:cNvSpPr txBox="1"/>
          <p:nvPr/>
        </p:nvSpPr>
        <p:spPr>
          <a:xfrm>
            <a:off x="640080" y="516636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EntrenadorId y ClaseId solo existen en ms-programacion: es el único microservicio con una referencia cruzada entre agregados de contextos distintos. En los otros tres, envolver el id no protegería ninguna invariante real.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64008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VALUE OBJECTS EN EL CÓDIGO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Antes y después: la invariante de Capacidad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640080" y="14813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ANTES — monilito-gimnasio/model/Clase.java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40080" y="1810512"/>
            <a:ext cx="5394960" cy="3310128"/>
          </a:xfrm>
          <a:prstGeom prst="roundRect">
            <a:avLst>
              <a:gd fmla="val 1657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 txBox="1"/>
          <p:nvPr/>
        </p:nvSpPr>
        <p:spPr>
          <a:xfrm>
            <a:off x="841248" y="1938528"/>
            <a:ext cx="50292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@Data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@Entity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Clase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    @Id @GeneratedValue(...)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Long id;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String nombre;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LocalDateTime horario;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int capacidadMaxima;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    @ManyToOne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Entrenador entrenador;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// setCapacidadMaxima(-5) → se guarda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6172200" y="1481328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8B84"/>
                </a:solidFill>
                <a:latin typeface="Calibri"/>
                <a:ea typeface="Calibri"/>
                <a:cs typeface="Calibri"/>
                <a:sym typeface="Calibri"/>
              </a:rPr>
              <a:t>DESPUÉS — ms-programacion/model/Capacidad.java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172200" y="1810512"/>
            <a:ext cx="5394960" cy="3310128"/>
          </a:xfrm>
          <a:prstGeom prst="roundRect">
            <a:avLst>
              <a:gd fmla="val 1657" name="adj"/>
            </a:avLst>
          </a:prstGeom>
          <a:solidFill>
            <a:srgbClr val="16202B"/>
          </a:solidFill>
          <a:ln cap="flat" cmpd="sng" w="12700">
            <a:solidFill>
              <a:srgbClr val="2431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6373368" y="1938528"/>
            <a:ext cx="5029200" cy="3063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@Embeddable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Capacidad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@Column(name = "capacidad_maxima",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nullable = false)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private int valor;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protected Capacidad() {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public Capacidad(int valor)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(valor &lt;= 0) 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throw new IllegalArgumentException(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"La capacidad máxima de una " 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"clase debe ser mayor que 0");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this.valor = valor;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640080" y="5349240"/>
            <a:ext cx="10908792" cy="960120"/>
          </a:xfrm>
          <a:prstGeom prst="roundRect">
            <a:avLst>
              <a:gd fmla="val 7619" name="adj"/>
            </a:avLst>
          </a:prstGeom>
          <a:solidFill>
            <a:srgbClr val="FDF0EB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914400" y="5550408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no existe forma de construir una Clase con capacidad inválida. 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POST /api/clases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capacidadMaxima: 0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400 Bad Request</a:t>
            </a:r>
            <a:r>
              <a:rPr b="0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 con el mensaje de la invariante, vía GlobalExceptionHandler.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64008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ENCAPSULACIÓN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Factory methods y DTOs de request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40080" y="1463040"/>
            <a:ext cx="5394960" cy="2331720"/>
          </a:xfrm>
          <a:prstGeom prst="roundRect">
            <a:avLst>
              <a:gd fmla="val 3137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 txBox="1"/>
          <p:nvPr/>
        </p:nvSpPr>
        <p:spPr>
          <a:xfrm>
            <a:off x="868680" y="162763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1 · Factory method con nombre de dominio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868680" y="1938528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Constructor sin argumentos protected (solo para Hibernate) y un único camino público de creación: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868680" y="2487168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Miembro.registrar(nombre, email)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Clase.programar(nombre, horario, cap, entId)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Entrenador.registrar(nombre, especialidad)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Equipo.registrar(nombre, descripcion, cantidad)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172200" y="1463040"/>
            <a:ext cx="5376672" cy="2331720"/>
          </a:xfrm>
          <a:prstGeom prst="roundRect">
            <a:avLst>
              <a:gd fmla="val 3137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6400800" y="162763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2 · DTO de request en el controlador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6400800" y="1938528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El @RequestBody nunca recibe la entidad JPA: así la validación de dominio no se puede saltar enlazando el JSON a los setters.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6400800" y="2468880"/>
            <a:ext cx="4937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record MiembroRequest(String nombre, String email)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record ClaseRequest(String nombre, LocalDateTime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       horario, int capacidadMaxima, Long entrenadorId)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record EntrenadorRequest(String nombre, String espec.)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record EquipoRequest(String nombre, String desc, int cant)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40080" y="3950208"/>
            <a:ext cx="5394960" cy="1783080"/>
          </a:xfrm>
          <a:prstGeom prst="roundRect">
            <a:avLst>
              <a:gd fmla="val 4103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 txBox="1"/>
          <p:nvPr/>
        </p:nvSpPr>
        <p:spPr>
          <a:xfrm>
            <a:off x="86868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El factory encapsula más que validar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868680" y="4434840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Miembro.registrar(...) fija fechaInscripcion = hoy: un dato que el llamador nunca provee ni puede falsear. Entrenador.registrar(...) exige especialidad no nula.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6172200" y="3950208"/>
            <a:ext cx="5376672" cy="1783080"/>
          </a:xfrm>
          <a:prstGeom prst="roundRect">
            <a:avLst>
              <a:gd fmla="val 4103" name="adj"/>
            </a:avLst>
          </a:prstGeom>
          <a:solidFill>
            <a:srgbClr val="16202B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640080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3 · Traducción de la violación a HTTP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6400800" y="4462272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@RestControllerAdvice GlobalExceptionHandler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IllegalArgumentException → 400 {"error": "..."}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MiembroService  → 409 CONFLICT (email duplicado)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EntrenadorService → 404 NOT FOUND (id inexistente)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640080" y="384048"/>
            <a:ext cx="457200" cy="457200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 txBox="1"/>
          <p:nvPr/>
        </p:nvSpPr>
        <p:spPr>
          <a:xfrm>
            <a:off x="640080" y="3840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1298448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PASO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1298448" y="603504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Los 4 microservicios identificados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12"/>
          <p:cNvGraphicFramePr/>
          <p:nvPr/>
        </p:nvGraphicFramePr>
        <p:xfrm>
          <a:off x="64008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{B96A3F3F-F1A7-4FE9-9863-B9F27C8223D5}</a:tableStyleId>
              </a:tblPr>
              <a:tblGrid>
                <a:gridCol w="2331725"/>
                <a:gridCol w="1828800"/>
                <a:gridCol w="960125"/>
                <a:gridCol w="1673350"/>
                <a:gridCol w="4114800"/>
              </a:tblGrid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Microservicio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Puerto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Entidad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1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ms-membresias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Membresías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8081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Miembro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 /api/miembros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  /api/miembros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ms-programacion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8082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Clase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 /api/clases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  /api/clases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  /api/clases/{id}/entrenador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ms-personal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8083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Entrenador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 /api/entrenadores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  /api/entrenadores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  /api/entrenadores/{id}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ms-inventario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620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Inventario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8084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Equipo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 /api/equipos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02B"/>
                        </a:buClr>
                        <a:buSzPts val="1150"/>
                        <a:buFont typeface="Courier New"/>
                        <a:buNone/>
                      </a:pPr>
                      <a:r>
                        <a:rPr lang="en-US" sz="1150" u="none" cap="none" strike="noStrike">
                          <a:solidFill>
                            <a:srgbClr val="16202B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  /api/equipos</a:t>
                      </a:r>
                      <a:endParaRPr sz="115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8DE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12"/>
          <p:cNvSpPr/>
          <p:nvPr/>
        </p:nvSpPr>
        <p:spPr>
          <a:xfrm>
            <a:off x="640080" y="5138928"/>
            <a:ext cx="10908792" cy="1143000"/>
          </a:xfrm>
          <a:prstGeom prst="roundRect">
            <a:avLst>
              <a:gd fmla="val 6400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 txBox="1"/>
          <p:nvPr/>
        </p:nvSpPr>
        <p:spPr>
          <a:xfrm>
            <a:off x="914400" y="5294376"/>
            <a:ext cx="10332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Mapeo 1:1 entidad↔microservicio. </a:t>
            </a:r>
            <a:r>
              <a:rPr b="0" i="0" lang="en-US" sz="130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Es una coincidencia de este dominio (4 entidades, casi sin invariantes compartidos), no una regla de DDD: un bounded context puede agrupar varios agregados que cambian juntos. Se evaluó fusionar Programación y Personal y se decidió mantenerlos separados para que la comunicación REST sea parte visible de la arquitectura.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64008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Diagrama de componentes y despliegue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pliegue.png" id="213" name="Google Shape;2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7863840" cy="432511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3"/>
          <p:cNvSpPr txBox="1"/>
          <p:nvPr/>
        </p:nvSpPr>
        <p:spPr>
          <a:xfrm>
            <a:off x="685800" y="577900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docs/images/image.png — cuatro componentes, cada uno con su propia base de datos H2 en memoria (database-per-service).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8823960" y="1371600"/>
            <a:ext cx="2743200" cy="4325112"/>
          </a:xfrm>
          <a:prstGeom prst="roundRect">
            <a:avLst>
              <a:gd fmla="val 2667" name="adj"/>
            </a:avLst>
          </a:prstGeom>
          <a:solidFill>
            <a:srgbClr val="F2F4F6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3"/>
          <p:cNvSpPr txBox="1"/>
          <p:nvPr/>
        </p:nvSpPr>
        <p:spPr>
          <a:xfrm>
            <a:off x="9034272" y="153619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Cómo se levanta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>
            <a:off x="9034272" y="184708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6202B"/>
                </a:solidFill>
                <a:latin typeface="Courier New"/>
                <a:ea typeface="Courier New"/>
                <a:cs typeface="Courier New"/>
                <a:sym typeface="Courier New"/>
              </a:rPr>
              <a:t>docker compose up --build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9034272" y="2331720"/>
            <a:ext cx="23774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Cuatro imágenes, una por microservicio.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ms-programacion declara depends_on: ms-personal con condition: service_healthy.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Healthcheck por servicio con wget sobre su endpoint GET.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Dentro de la red de Docker se resuelven por nombre de servicio: http://ms-personal:8083, no localhost.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6202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Alternativa: ./mvnw spring-boot:run por proyecto, levantando ms-personal primero.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640080" y="34747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Comunicación entre microservicios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640080" y="1463040"/>
            <a:ext cx="3017520" cy="960120"/>
          </a:xfrm>
          <a:prstGeom prst="roundRect">
            <a:avLst>
              <a:gd fmla="val 7619" name="adj"/>
            </a:avLst>
          </a:prstGeom>
          <a:solidFill>
            <a:srgbClr val="16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804672" y="160020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ms-programacion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804672" y="1901952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5D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5DE"/>
                </a:solidFill>
                <a:latin typeface="Calibri"/>
                <a:ea typeface="Calibri"/>
                <a:cs typeface="Calibri"/>
                <a:sym typeface="Calibri"/>
              </a:rPr>
              <a:t>ClaseService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4617720" y="1463040"/>
            <a:ext cx="3017520" cy="960120"/>
          </a:xfrm>
          <a:prstGeom prst="roundRect">
            <a:avLst>
              <a:gd fmla="val 7619" name="adj"/>
            </a:avLst>
          </a:prstGeom>
          <a:solidFill>
            <a:srgbClr val="2E8B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4782312" y="160020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PersonalClient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>
            <a:off x="4782312" y="1901952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5D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5DE"/>
                </a:solidFill>
                <a:latin typeface="Calibri"/>
                <a:ea typeface="Calibri"/>
                <a:cs typeface="Calibri"/>
                <a:sym typeface="Calibri"/>
              </a:rPr>
              <a:t>Spring RestClient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4"/>
          <p:cNvSpPr/>
          <p:nvPr/>
        </p:nvSpPr>
        <p:spPr>
          <a:xfrm>
            <a:off x="8549640" y="1463040"/>
            <a:ext cx="3017520" cy="960120"/>
          </a:xfrm>
          <a:prstGeom prst="roundRect">
            <a:avLst>
              <a:gd fmla="val 7619" name="adj"/>
            </a:avLst>
          </a:prstGeom>
          <a:solidFill>
            <a:srgbClr val="1620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 txBox="1"/>
          <p:nvPr/>
        </p:nvSpPr>
        <p:spPr>
          <a:xfrm>
            <a:off x="8714232" y="160020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ms-personal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 txBox="1"/>
          <p:nvPr/>
        </p:nvSpPr>
        <p:spPr>
          <a:xfrm>
            <a:off x="8714232" y="1901952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5D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5DE"/>
                </a:solidFill>
                <a:latin typeface="Calibri"/>
                <a:ea typeface="Calibri"/>
                <a:cs typeface="Calibri"/>
                <a:sym typeface="Calibri"/>
              </a:rPr>
              <a:t>GET /api/entrenadores/{id}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3703320" y="1801368"/>
            <a:ext cx="8686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7635240" y="1801368"/>
            <a:ext cx="86868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640080" y="2784348"/>
            <a:ext cx="182880" cy="182880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1005840" y="2724912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Cuándo se llama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3931920" y="2724912"/>
            <a:ext cx="76169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Al programar una clase (POST /api/clases) para validar el entrenadorId, y al consultar GET /api/clases/{id}/entrenador para enriquecer la respuesta con el ClaseDetalleDTO.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640080" y="3717036"/>
            <a:ext cx="182880" cy="182880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1005840" y="36576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Cómo se configura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3931920" y="3657600"/>
            <a:ext cx="76169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RestClientConfig crea un bean RestClient con baseUrl = ${personal.service.url}; en Docker Compose ese valor es http://ms-personal:8083.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640080" y="4649724"/>
            <a:ext cx="182880" cy="182880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1005840" y="459028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Traducción de fallos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/>
          <p:nvPr/>
        </p:nvSpPr>
        <p:spPr>
          <a:xfrm>
            <a:off x="3931920" y="4590288"/>
            <a:ext cx="76169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PersonalClient captura RestClientResponseException: 404 desde ms-personal → 400 Bad Request ("El entrenador N no existe en ms-personal"); cualquier otro error → 502 Bad Gateway.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640080" y="5582412"/>
            <a:ext cx="182880" cy="182880"/>
          </a:xfrm>
          <a:prstGeom prst="ellipse">
            <a:avLst/>
          </a:prstGeom>
          <a:solidFill>
            <a:srgbClr val="E855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1005840" y="552297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02B"/>
                </a:solidFill>
                <a:latin typeface="Calibri"/>
                <a:ea typeface="Calibri"/>
                <a:cs typeface="Calibri"/>
                <a:sym typeface="Calibri"/>
              </a:rPr>
              <a:t>Por qué no es un @ManyToOne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 txBox="1"/>
          <p:nvPr/>
        </p:nvSpPr>
        <p:spPr>
          <a:xfrm>
            <a:off x="3931920" y="5522976"/>
            <a:ext cx="76169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La referencia cruzada viaja como EntrenadorId (value object), no como objeto Entrenador: cada contexto mantiene su propia base de datos y su propio modelo.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5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 txBox="1"/>
          <p:nvPr/>
        </p:nvSpPr>
        <p:spPr>
          <a:xfrm>
            <a:off x="640080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 txBox="1"/>
          <p:nvPr/>
        </p:nvSpPr>
        <p:spPr>
          <a:xfrm>
            <a:off x="640080" y="603504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ms-membresias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4709160" y="713232"/>
            <a:ext cx="1371600" cy="384048"/>
          </a:xfrm>
          <a:prstGeom prst="roundRect">
            <a:avLst>
              <a:gd fmla="val 23810" name="adj"/>
            </a:avLst>
          </a:prstGeom>
          <a:solidFill>
            <a:srgbClr val="2E8B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4709160" y="71323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:8081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640080" y="118872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Contexto Membresías · raíz de agregado Miembro · value object Email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7635240" y="1600200"/>
            <a:ext cx="3913632" cy="4160520"/>
          </a:xfrm>
          <a:prstGeom prst="roundRect">
            <a:avLst>
              <a:gd fmla="val 1402" name="adj"/>
            </a:avLst>
          </a:prstGeom>
          <a:solidFill>
            <a:srgbClr val="16202B"/>
          </a:solidFill>
          <a:ln cap="flat" cmpd="sng" w="12700">
            <a:solidFill>
              <a:srgbClr val="16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786384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Qué debe mostrar el video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7863840" y="222199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8119872" y="217627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GET /api/miembros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8119872" y="239572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lista sembrada por el DataLoader (Juan Pérez, María López)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7863840" y="2880360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8119872" y="283464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/api/miembros — válido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8119872" y="305409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devuelve id y fechaInscripcion fijada por Miembro.registrar()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7863840" y="3538728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8119872" y="349300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email "no-es-un-email"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8119872" y="371246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400 · invariante del value object Email violada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7863840" y="414223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8119872" y="409651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email juan@email.com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8119872" y="431596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409 · MiembroService detecta email ya registrado (existsByEmail)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7863840" y="4800600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 txBox="1"/>
          <p:nvPr/>
        </p:nvSpPr>
        <p:spPr>
          <a:xfrm>
            <a:off x="8119872" y="475488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nombre vacío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8119872" y="497433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400 · Miembro.registrar() rechaza el nombre en blanco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640080" y="587044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Casos tomados de la colección postman/Gimnasio-Microservicios.postman_collection.json — carpeta ms-membresias.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5" title="ms-membresia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97" y="1618501"/>
            <a:ext cx="7363978" cy="414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 txBox="1"/>
          <p:nvPr/>
        </p:nvSpPr>
        <p:spPr>
          <a:xfrm>
            <a:off x="640080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640080" y="603504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ms-programacion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4709160" y="713232"/>
            <a:ext cx="1371600" cy="384048"/>
          </a:xfrm>
          <a:prstGeom prst="roundRect">
            <a:avLst>
              <a:gd fmla="val 23810" name="adj"/>
            </a:avLst>
          </a:prstGeom>
          <a:solidFill>
            <a:srgbClr val="2E8B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4709160" y="71323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:8082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 txBox="1"/>
          <p:nvPr/>
        </p:nvSpPr>
        <p:spPr>
          <a:xfrm>
            <a:off x="640080" y="118872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Contexto Programación · raíz Clase · value objects Capacidad, EntrenadorId, ClaseId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7635240" y="1600200"/>
            <a:ext cx="3913632" cy="4160520"/>
          </a:xfrm>
          <a:prstGeom prst="roundRect">
            <a:avLst>
              <a:gd fmla="val 1402" name="adj"/>
            </a:avLst>
          </a:prstGeom>
          <a:solidFill>
            <a:srgbClr val="16202B"/>
          </a:solidFill>
          <a:ln cap="flat" cmpd="sng" w="12700">
            <a:solidFill>
              <a:srgbClr val="16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/>
          <p:cNvSpPr txBox="1"/>
          <p:nvPr/>
        </p:nvSpPr>
        <p:spPr>
          <a:xfrm>
            <a:off x="786384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Qué debe mostrar el video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7863840" y="222199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 txBox="1"/>
          <p:nvPr/>
        </p:nvSpPr>
        <p:spPr>
          <a:xfrm>
            <a:off x="8119872" y="217627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GET /api/clases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8119872" y="239572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Yoga Matutino y Spinning Vespertino del DataLoader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7863840" y="2843784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 txBox="1"/>
          <p:nvPr/>
        </p:nvSpPr>
        <p:spPr>
          <a:xfrm>
            <a:off x="8119872" y="2798064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/api/clases — válido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8119872" y="30175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capacidadMaxima 12, entrenadorId 1 (validado contra ms-personal)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7863840" y="3538728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8119872" y="349300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capacidadMaxima: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8119872" y="371246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400 · invariante del value object Capacidad violada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7863840" y="414223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8119872" y="409651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entrenadorId: 9999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8119872" y="431596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400 · PersonalClient traduce el 404 de ms-personal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7863840" y="4745736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8119872" y="470001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GET /api/clases/1/entrenador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8119872" y="491947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ClaseDetalleDTO con el entrenador anidado (llamada REST cruzada)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640080" y="587044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Mostrar en este video la llamada cruzada: es el único cruce de contexto de todo el sistema.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6" title="ms-programac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15440"/>
            <a:ext cx="7293523" cy="410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 txBox="1"/>
          <p:nvPr/>
        </p:nvSpPr>
        <p:spPr>
          <a:xfrm>
            <a:off x="640080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 txBox="1"/>
          <p:nvPr/>
        </p:nvSpPr>
        <p:spPr>
          <a:xfrm>
            <a:off x="640080" y="603504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ms-personal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4709160" y="713232"/>
            <a:ext cx="1371600" cy="384048"/>
          </a:xfrm>
          <a:prstGeom prst="roundRect">
            <a:avLst>
              <a:gd fmla="val 23810" name="adj"/>
            </a:avLst>
          </a:prstGeom>
          <a:solidFill>
            <a:srgbClr val="2E8B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 txBox="1"/>
          <p:nvPr/>
        </p:nvSpPr>
        <p:spPr>
          <a:xfrm>
            <a:off x="4709160" y="71323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:8083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640080" y="118872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Contexto Personal · raíz Entrenador · catálogo cerrado Especialidad (enum)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7635240" y="1600200"/>
            <a:ext cx="3913632" cy="4160520"/>
          </a:xfrm>
          <a:prstGeom prst="roundRect">
            <a:avLst>
              <a:gd fmla="val 1402" name="adj"/>
            </a:avLst>
          </a:prstGeom>
          <a:solidFill>
            <a:srgbClr val="16202B"/>
          </a:solidFill>
          <a:ln cap="flat" cmpd="sng" w="12700">
            <a:solidFill>
              <a:srgbClr val="16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786384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Qué debe mostrar el video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7863840" y="222199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8119872" y="217627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GET /api/entrenadores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8119872" y="239572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Carlos Rodríguez (YOGA), Ana Martínez (SPINNING)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7863840" y="2843784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 txBox="1"/>
          <p:nvPr/>
        </p:nvSpPr>
        <p:spPr>
          <a:xfrm>
            <a:off x="8119872" y="2798064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GET /api/entrenadores/1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8119872" y="301752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el mismo endpoint que consume ms-programacion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7863840" y="3447288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8119872" y="340156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GET /api/entrenadores/9999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8119872" y="362102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404 · EntrenadorService lanza NOT_FOUND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7863840" y="4014216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8119872" y="3968496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especialidad "pilates"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8119872" y="418795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se normaliza al enum: especialidad = PILATES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7863840" y="4617720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8119872" y="4572000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"Baile Moderno"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 txBox="1"/>
          <p:nvPr/>
        </p:nvSpPr>
        <p:spPr>
          <a:xfrm>
            <a:off x="8119872" y="479145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400 · fuera del catálogo; el error lista los valores válidos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7863840" y="5221224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8119872" y="5175504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nombre vacío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 txBox="1"/>
          <p:nvPr/>
        </p:nvSpPr>
        <p:spPr>
          <a:xfrm>
            <a:off x="8119872" y="539496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400 · Entrenador.registrar() rechaza el nombre en blanco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 txBox="1"/>
          <p:nvPr/>
        </p:nvSpPr>
        <p:spPr>
          <a:xfrm>
            <a:off x="640080" y="587044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El 404 de este servicio es el que ms-programacion convierte en un 400 al programar una clase con un entrenador inexistente.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17" title="ms-perso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15440"/>
            <a:ext cx="7293523" cy="410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 txBox="1"/>
          <p:nvPr/>
        </p:nvSpPr>
        <p:spPr>
          <a:xfrm>
            <a:off x="11185855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640080" y="34747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DEMO EN VIVO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 txBox="1"/>
          <p:nvPr/>
        </p:nvSpPr>
        <p:spPr>
          <a:xfrm>
            <a:off x="640080" y="603504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B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6202B"/>
                </a:solidFill>
                <a:latin typeface="Cambria"/>
                <a:ea typeface="Cambria"/>
                <a:cs typeface="Cambria"/>
                <a:sym typeface="Cambria"/>
              </a:rPr>
              <a:t>ms-inventario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4709160" y="713232"/>
            <a:ext cx="1371600" cy="384048"/>
          </a:xfrm>
          <a:prstGeom prst="roundRect">
            <a:avLst>
              <a:gd fmla="val 23810" name="adj"/>
            </a:avLst>
          </a:prstGeom>
          <a:solidFill>
            <a:srgbClr val="2E8B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"/>
          <p:cNvSpPr txBox="1"/>
          <p:nvPr/>
        </p:nvSpPr>
        <p:spPr>
          <a:xfrm>
            <a:off x="4709160" y="71323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:8084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640080" y="118872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Contexto Inventario · raíz de agregado Equipo · value object Cantidad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7635240" y="1600200"/>
            <a:ext cx="3913632" cy="4160520"/>
          </a:xfrm>
          <a:prstGeom prst="roundRect">
            <a:avLst>
              <a:gd fmla="val 1402" name="adj"/>
            </a:avLst>
          </a:prstGeom>
          <a:solidFill>
            <a:srgbClr val="16202B"/>
          </a:solidFill>
          <a:ln cap="flat" cmpd="sng" w="12700">
            <a:solidFill>
              <a:srgbClr val="16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8"/>
          <p:cNvSpPr txBox="1"/>
          <p:nvPr/>
        </p:nvSpPr>
        <p:spPr>
          <a:xfrm>
            <a:off x="786384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Qué debe mostrar el video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7863840" y="222199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 txBox="1"/>
          <p:nvPr/>
        </p:nvSpPr>
        <p:spPr>
          <a:xfrm>
            <a:off x="8119872" y="217627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GET /api/equipos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 txBox="1"/>
          <p:nvPr/>
        </p:nvSpPr>
        <p:spPr>
          <a:xfrm>
            <a:off x="8119872" y="239572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Mancuernas (20) y Bicicleta estática (15) del DataLoader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7863840" y="304495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2E8B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 txBox="1"/>
          <p:nvPr/>
        </p:nvSpPr>
        <p:spPr>
          <a:xfrm>
            <a:off x="8119872" y="299923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/api/equipos — válido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 txBox="1"/>
          <p:nvPr/>
        </p:nvSpPr>
        <p:spPr>
          <a:xfrm>
            <a:off x="8119872" y="321868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C9C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FC9C1"/>
                </a:solidFill>
                <a:latin typeface="Calibri"/>
                <a:ea typeface="Calibri"/>
                <a:cs typeface="Calibri"/>
                <a:sym typeface="Calibri"/>
              </a:rPr>
              <a:t>200 · Kettlebell 16kg con cantidad 10; la respuesta serializa Cantidad como número gracias a @JsonValue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7863840" y="409651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8119872" y="405079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cantidad: -5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 txBox="1"/>
          <p:nvPr/>
        </p:nvSpPr>
        <p:spPr>
          <a:xfrm>
            <a:off x="8119872" y="427024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400 · invariante del value object Cantidad violada ("La cantidad de un equipo no puede ser negativa")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7863840" y="5056632"/>
            <a:ext cx="146304" cy="146304"/>
          </a:xfrm>
          <a:prstGeom prst="rect">
            <a:avLst/>
          </a:prstGeom>
          <a:solidFill>
            <a:srgbClr val="16202B"/>
          </a:solidFill>
          <a:ln cap="flat" cmpd="sng" w="19050">
            <a:solidFill>
              <a:srgbClr val="E855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 txBox="1"/>
          <p:nvPr/>
        </p:nvSpPr>
        <p:spPr>
          <a:xfrm>
            <a:off x="8119872" y="5010912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POST — nombre vacío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 txBox="1"/>
          <p:nvPr/>
        </p:nvSpPr>
        <p:spPr>
          <a:xfrm>
            <a:off x="8119872" y="523036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98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19878"/>
                </a:solidFill>
                <a:latin typeface="Calibri"/>
                <a:ea typeface="Calibri"/>
                <a:cs typeface="Calibri"/>
                <a:sym typeface="Calibri"/>
              </a:rPr>
              <a:t>400 · Equipo.registrar() rechaza el nombre en blanco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 txBox="1"/>
          <p:nvPr/>
        </p:nvSpPr>
        <p:spPr>
          <a:xfrm>
            <a:off x="640080" y="587044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A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6A78"/>
                </a:solidFill>
                <a:latin typeface="Calibri"/>
                <a:ea typeface="Calibri"/>
                <a:cs typeface="Calibri"/>
                <a:sym typeface="Calibri"/>
              </a:rPr>
              <a:t>Es el contexto más autocontenido: sin dependencias salientes ni referencias a otros agregados.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9" name="Google Shape;369;p18" title="ms-inventari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15440"/>
            <a:ext cx="7293523" cy="41026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02B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9"/>
          <p:cNvSpPr txBox="1"/>
          <p:nvPr/>
        </p:nvSpPr>
        <p:spPr>
          <a:xfrm>
            <a:off x="838200" y="2745025"/>
            <a:ext cx="10515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55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552F"/>
                </a:solidFill>
                <a:latin typeface="Calibri"/>
                <a:ea typeface="Calibri"/>
                <a:cs typeface="Calibri"/>
                <a:sym typeface="Calibri"/>
              </a:rPr>
              <a:t>TALLER DE DOMAIN-DRIVEN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838206" y="2986387"/>
            <a:ext cx="105156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GRACIAS!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