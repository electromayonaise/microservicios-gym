
<file path=[Content_Types].xml><?xml version="1.0" encoding="utf-8"?>
<Types xmlns="http://schemas.openxmlformats.org/package/2006/content-types">
  <Default ContentType="image/jpeg" Extension="jpg"/>
  <Default ContentType="application/x-fontdata" Extension="fntdata"/>
  <Default ContentType="application/xml" Extension="xml"/>
  <Default ContentType="image/png" Extension="png"/>
  <Default ContentType="application/vnd.openxmlformats-officedocument.obfuscatedFont" Extension="odttf"/>
  <Default ContentType="application/vnd.openxmlformats-package.relationships+xml" Extension="rels"/>
  <Override ContentType="application/vnd.openxmlformats-officedocument.presentationml.notesSlide+xml" PartName="/ppt/notesSlides/notesSlide6.xml"/>
  <Override ContentType="application/vnd.openxmlformats-officedocument.presentationml.notesSlide+xml" PartName="/ppt/notesSlides/notesSlide13.xml"/>
  <Override ContentType="application/vnd.openxmlformats-officedocument.presentationml.notesSlide+xml" PartName="/ppt/notesSlides/notesSlide1.xml"/>
  <Override ContentType="application/vnd.openxmlformats-officedocument.presentationml.notesSlide+xml" PartName="/ppt/notesSlides/notesSlide3.xml"/>
  <Override ContentType="application/vnd.openxmlformats-officedocument.presentationml.notesSlide+xml" PartName="/ppt/notesSlides/notesSlide9.xml"/>
  <Override ContentType="application/vnd.openxmlformats-officedocument.presentationml.notesSlide+xml" PartName="/ppt/notesSlides/notesSlide15.xml"/>
  <Override ContentType="application/vnd.openxmlformats-officedocument.presentationml.notesSlide+xml" PartName="/ppt/notesSlides/notesSlide7.xml"/>
  <Override ContentType="application/vnd.openxmlformats-officedocument.presentationml.notesSlide+xml" PartName="/ppt/notesSlides/notesSlide11.xml"/>
  <Override ContentType="application/vnd.openxmlformats-officedocument.presentationml.notesSlide+xml" PartName="/ppt/notesSlides/notesSlide5.xml"/>
  <Override ContentType="application/vnd.openxmlformats-officedocument.presentationml.notesSlide+xml" PartName="/ppt/notesSlides/notesSlide12.xml"/>
  <Override ContentType="application/vnd.openxmlformats-officedocument.presentationml.notesSlide+xml" PartName="/ppt/notesSlides/notesSlide8.xml"/>
  <Override ContentType="application/vnd.openxmlformats-officedocument.presentationml.notesSlide+xml" PartName="/ppt/notesSlides/notesSlide14.xml"/>
  <Override ContentType="application/vnd.openxmlformats-officedocument.presentationml.notesSlide+xml" PartName="/ppt/notesSlides/notesSlide2.xml"/>
  <Override ContentType="application/vnd.openxmlformats-officedocument.presentationml.notesSlide+xml" PartName="/ppt/notesSlides/notesSlide4.xml"/>
  <Override ContentType="application/vnd.openxmlformats-officedocument.presentationml.notesSlide+xml" PartName="/ppt/notesSlides/notesSlide10.xml"/>
  <Override ContentType="application/vnd.openxmlformats-officedocument.presentationml.tableStyles+xml" PartName="/ppt/tableStyles.xml"/>
  <Override ContentType="application/vnd.openxmlformats-officedocument.presentationml.slideLayout+xml" PartName="/ppt/slideLayouts/slideLayout1.xml"/>
  <Override ContentType="application/vnd.openxmlformats-officedocument.presentationml.slideMaster+xml" PartName="/ppt/slideMasters/slideMaster1.xml"/>
  <Override ContentType="application/binary" PartName="/ppt/metadata"/>
  <Override ContentType="application/vnd.openxmlformats-officedocument.presentationml.slide+xml" PartName="/ppt/slides/slide4.xml"/>
  <Override ContentType="application/vnd.openxmlformats-officedocument.presentationml.slide+xml" PartName="/ppt/slides/slide11.xml"/>
  <Override ContentType="application/vnd.openxmlformats-officedocument.presentationml.slide+xml" PartName="/ppt/slides/slide1.xml"/>
  <Override ContentType="application/vnd.openxmlformats-officedocument.presentationml.slide+xml" PartName="/ppt/slides/slide3.xml"/>
  <Override ContentType="application/vnd.openxmlformats-officedocument.presentationml.slide+xml" PartName="/ppt/slides/slide9.xml"/>
  <Override ContentType="application/vnd.openxmlformats-officedocument.presentationml.slide+xml" PartName="/ppt/slides/slide13.xml"/>
  <Override ContentType="application/vnd.openxmlformats-officedocument.presentationml.slide+xml" PartName="/ppt/slides/slide5.xml"/>
  <Override ContentType="application/vnd.openxmlformats-officedocument.presentationml.slide+xml" PartName="/ppt/slides/slide7.xml"/>
  <Override ContentType="application/vnd.openxmlformats-officedocument.presentationml.slide+xml" PartName="/ppt/slides/slide15.xml"/>
  <Override ContentType="application/vnd.openxmlformats-officedocument.presentationml.slide+xml" PartName="/ppt/slides/slide12.xml"/>
  <Override ContentType="application/vnd.openxmlformats-officedocument.presentationml.slide+xml" PartName="/ppt/slides/slide10.xml"/>
  <Override ContentType="application/vnd.openxmlformats-officedocument.presentationml.slide+xml" PartName="/ppt/slides/slide2.xml"/>
  <Override ContentType="application/vnd.openxmlformats-officedocument.presentationml.slide+xml" PartName="/ppt/slides/slide6.xml"/>
  <Override ContentType="application/vnd.openxmlformats-officedocument.presentationml.slide+xml" PartName="/ppt/slides/slide8.xml"/>
  <Override ContentType="application/vnd.openxmlformats-officedocument.presentationml.slide+xml" PartName="/ppt/slides/slide14.xml"/>
  <Override ContentType="application/vnd.openxmlformats-officedocument.presentationml.notesMaster+xml" PartName="/ppt/notesMasters/notesMaster1.xml"/>
  <Override ContentType="application/vnd.openxmlformats-package.core-properties+xml" PartName="/docProps/core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theme+xml" PartName="/ppt/theme/theme1.xml"/>
  <Override ContentType="application/vnd.openxmlformats-officedocument.theme+xml" PartName="/ppt/theme/theme2.xml"/>
</Types>
</file>

<file path=_rels/.rels><?xml version="1.0" encoding="UTF-8" standalone="yes"?><Relationships xmlns="http://schemas.openxmlformats.org/package/2006/relationships"><Relationship Id="rId1" Type="http://schemas.openxmlformats.org/package/2006/relationships/metadata/core-properties" Target="docProps/core.xml"/><Relationship Id="rId2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embedTrueTypeFonts="1" strictFirstAndLastChars="0" saveSubsetFonts="1">
  <p:sldMasterIdLst>
    <p:sldMasterId id="2147483648" r:id="rId4"/>
  </p:sldMasterIdLst>
  <p:notesMasterIdLst>
    <p:notesMasterId r:id="rId5"/>
  </p:notesMasterIdLst>
  <p:sldIdLst>
    <p:sldId id="256" r:id="rId6"/>
    <p:sldId id="257" r:id="rId7"/>
    <p:sldId id="258" r:id="rId8"/>
    <p:sldId id="259" r:id="rId9"/>
    <p:sldId id="260" r:id="rId10"/>
    <p:sldId id="261" r:id="rId11"/>
    <p:sldId id="262" r:id="rId12"/>
    <p:sldId id="263" r:id="rId13"/>
    <p:sldId id="264" r:id="rId14"/>
    <p:sldId id="265" r:id="rId15"/>
    <p:sldId id="266" r:id="rId16"/>
    <p:sldId id="267" r:id="rId17"/>
    <p:sldId id="268" r:id="rId18"/>
    <p:sldId id="269" r:id="rId19"/>
    <p:sldId id="270" r:id="rId20"/>
  </p:sldIdLst>
  <p:sldSz cy="6858000" cx="12192000"/>
  <p:notesSz cx="6858000" cy="12192000"/>
  <p:embeddedFontLst>
    <p:embeddedFont>
      <p:font typeface="IBM Plex Sans"/>
      <p:regular r:id="rId21"/>
      <p:bold r:id="rId22"/>
      <p:italic r:id="rId23"/>
      <p:boldItalic r:id="rId24"/>
    </p:embeddedFont>
    <p:embeddedFont>
      <p:font typeface="JetBrains Mono"/>
      <p:regular r:id="rId25"/>
      <p:bold r:id="rId26"/>
      <p:italic r:id="rId27"/>
      <p:boldItalic r:id="rId28"/>
    </p:embeddedFont>
  </p:embeddedFontLst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GoogleSlidesCustomDataVersion2">
      <go:slidesCustomData xmlns:go="http://customooxmlschemas.google.com/" r:id="rId29" roundtripDataSignature="AMtx7mgKbWeNkEVvwV4s4d4+pw9Bmfe+4A==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tableStyles.xml><?xml version="1.0" encoding="utf-8"?>
<a:tblStyleLst xmlns:a="http://schemas.openxmlformats.org/drawingml/2006/main" xmlns:r="http://schemas.openxmlformats.org/officeDocument/2006/relationships" def="{836C93BB-8187-4C30-B8EA-31DB8A4A5036}">
  <a:tblStyle styleId="{836C93BB-8187-4C30-B8EA-31DB8A4A5036}" styleName="Table_0">
    <a:wholeTbl>
      <a:tcTxStyle>
        <a:font>
          <a:latin typeface="Arial"/>
          <a:ea typeface="Arial"/>
          <a:cs typeface="Arial"/>
        </a:font>
        <a:srgbClr val="000000"/>
      </a:tcTxStyle>
    </a:wholeTbl>
    <a:band1H>
      <a:tcTxStyle/>
    </a:band1H>
    <a:band2H>
      <a:tcTxStyle/>
    </a:band2H>
    <a:band1V>
      <a:tcTxStyle/>
    </a:band1V>
    <a:band2V>
      <a:tcTxStyle/>
    </a:band2V>
    <a:lastCol>
      <a:tcTxStyle/>
    </a:lastCol>
    <a:firstCol>
      <a:tcTxStyle/>
    </a:firstCol>
    <a:lastRow>
      <a:tcTxStyle/>
    </a:lastRow>
    <a:seCell>
      <a:tcTxStyle/>
    </a:seCell>
    <a:swCell>
      <a:tcTxStyle/>
    </a:swCell>
    <a:firstRow>
      <a:tcTxStyle/>
    </a:firstRow>
    <a:neCell>
      <a:tcTxStyle/>
    </a:neCell>
    <a:nwCell>
      <a:tcTxStyle/>
    </a:nwCell>
  </a:tblStyle>
</a:tblStyleLst>
</file>

<file path=ppt/_rels/presentation.xml.rels><?xml version="1.0" encoding="UTF-8" standalone="yes"?><Relationships xmlns="http://schemas.openxmlformats.org/package/2006/relationships"><Relationship Id="rId20" Type="http://schemas.openxmlformats.org/officeDocument/2006/relationships/slide" Target="slides/slide15.xml"/><Relationship Id="rId22" Type="http://schemas.openxmlformats.org/officeDocument/2006/relationships/font" Target="fonts/IBMPlexSans-bold.fntdata"/><Relationship Id="rId21" Type="http://schemas.openxmlformats.org/officeDocument/2006/relationships/font" Target="fonts/IBMPlexSans-regular.fntdata"/><Relationship Id="rId24" Type="http://schemas.openxmlformats.org/officeDocument/2006/relationships/font" Target="fonts/IBMPlexSans-boldItalic.fntdata"/><Relationship Id="rId23" Type="http://schemas.openxmlformats.org/officeDocument/2006/relationships/font" Target="fonts/IBMPlexSans-italic.fntdata"/><Relationship Id="rId1" Type="http://schemas.openxmlformats.org/officeDocument/2006/relationships/theme" Target="theme/theme1.xml"/><Relationship Id="rId2" Type="http://schemas.openxmlformats.org/officeDocument/2006/relationships/presProps" Target="presProps.xml"/><Relationship Id="rId3" Type="http://schemas.openxmlformats.org/officeDocument/2006/relationships/tableStyles" Target="tableStyles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4.xml"/><Relationship Id="rId26" Type="http://schemas.openxmlformats.org/officeDocument/2006/relationships/font" Target="fonts/JetBrainsMono-bold.fntdata"/><Relationship Id="rId25" Type="http://schemas.openxmlformats.org/officeDocument/2006/relationships/font" Target="fonts/JetBrainsMono-regular.fntdata"/><Relationship Id="rId28" Type="http://schemas.openxmlformats.org/officeDocument/2006/relationships/font" Target="fonts/JetBrainsMono-boldItalic.fntdata"/><Relationship Id="rId27" Type="http://schemas.openxmlformats.org/officeDocument/2006/relationships/font" Target="fonts/JetBrainsMono-italic.fntdata"/><Relationship Id="rId5" Type="http://schemas.openxmlformats.org/officeDocument/2006/relationships/notesMaster" Target="notesMasters/notesMaster1.xml"/><Relationship Id="rId6" Type="http://schemas.openxmlformats.org/officeDocument/2006/relationships/slide" Target="slides/slide1.xml"/><Relationship Id="rId29" Type="http://customschemas.google.com/relationships/presentationmetadata" Target="metadata"/><Relationship Id="rId7" Type="http://schemas.openxmlformats.org/officeDocument/2006/relationships/slide" Target="slides/slide2.xml"/><Relationship Id="rId8" Type="http://schemas.openxmlformats.org/officeDocument/2006/relationships/slide" Target="slides/slide3.xml"/><Relationship Id="rId11" Type="http://schemas.openxmlformats.org/officeDocument/2006/relationships/slide" Target="slides/slide6.xml"/><Relationship Id="rId10" Type="http://schemas.openxmlformats.org/officeDocument/2006/relationships/slide" Target="slides/slide5.xml"/><Relationship Id="rId13" Type="http://schemas.openxmlformats.org/officeDocument/2006/relationships/slide" Target="slides/slide8.xml"/><Relationship Id="rId12" Type="http://schemas.openxmlformats.org/officeDocument/2006/relationships/slide" Target="slides/slide7.xml"/><Relationship Id="rId15" Type="http://schemas.openxmlformats.org/officeDocument/2006/relationships/slide" Target="slides/slide10.xml"/><Relationship Id="rId14" Type="http://schemas.openxmlformats.org/officeDocument/2006/relationships/slide" Target="slides/slide9.xml"/><Relationship Id="rId17" Type="http://schemas.openxmlformats.org/officeDocument/2006/relationships/slide" Target="slides/slide12.xml"/><Relationship Id="rId16" Type="http://schemas.openxmlformats.org/officeDocument/2006/relationships/slide" Target="slides/slide11.xml"/><Relationship Id="rId19" Type="http://schemas.openxmlformats.org/officeDocument/2006/relationships/slide" Target="slides/slide14.xml"/><Relationship Id="rId18" Type="http://schemas.openxmlformats.org/officeDocument/2006/relationships/slide" Target="slides/slide13.xml"/></Relationships>
</file>

<file path=ppt/notesMasters/_rels/notesMaster1.xml.rels><?xml version="1.0" encoding="UTF-8" standalone="yes"?>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1"/>
        </a:solidFill>
      </p:bgPr>
    </p:bg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 txBox="1"/>
          <p:nvPr>
            <p:ph idx="2" type="hdr"/>
          </p:nvPr>
        </p:nvSpPr>
        <p:spPr>
          <a:xfrm>
            <a:off x="0" y="0"/>
            <a:ext cx="2971800" cy="4587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4" name="Google Shape;4;n"/>
          <p:cNvSpPr txBox="1"/>
          <p:nvPr>
            <p:ph idx="10" type="dt"/>
          </p:nvPr>
        </p:nvSpPr>
        <p:spPr>
          <a:xfrm>
            <a:off x="3884613" y="0"/>
            <a:ext cx="2971800" cy="4587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marR="0" rtl="0" algn="r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5" name="Google Shape;5;n"/>
          <p:cNvSpPr/>
          <p:nvPr>
            <p:ph idx="3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6" name="Google Shape;6;n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-228600" lvl="0" marL="4572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-228600" lvl="1" marL="9144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-228600" lvl="2" marL="13716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-228600" lvl="3" marL="18288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-228600" lvl="4" marL="22860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-228600" lvl="5" marL="27432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-228600" lvl="6" marL="32004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-228600" lvl="7" marL="36576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-228600" lvl="8" marL="41148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7" name="Google Shape;7;n"/>
          <p:cNvSpPr txBox="1"/>
          <p:nvPr>
            <p:ph idx="11" type="ftr"/>
          </p:nvPr>
        </p:nvSpPr>
        <p:spPr>
          <a:xfrm>
            <a:off x="0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>
            <a:lvl1pPr lvl="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8" name="Google Shape;8;n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b="0" i="0" lang="en-US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‹#›</a:t>
            </a:fld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1" name="Shape 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Google Shape;12;p1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3" name="Google Shape;13;p1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Tiempo: 0:15 (junto con la siguiente diapositiva suman 1:00). Presentar el taller: los cuatro microservicios del sistema de gestión del gimnasio ahora tienen seguridad centralizada con Keycloak y JWT, se comunican de forma asíncrona con RabbitMQ y publican eventos en Kafka. Anunciar que todo lo que se va a mostrar se ejecutó sobre el sistema real levantado con docker compose.</a:t>
            </a:r>
            <a:endParaRPr/>
          </a:p>
        </p:txBody>
      </p:sp>
      <p:sp>
        <p:nvSpPr>
          <p:cNvPr id="14" name="Google Shape;14;p1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8" name="Shape 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" name="Google Shape;29;h16dd958677814f23_0_69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30" name="Google Shape;30;h16dd958677814f23_0_69:notes"/>
          <p:cNvSpPr txBox="1"/>
          <p:nvPr>
            <p:ph idx="1" type="body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Tiempo: 0:45. Los cuatro microservicios del taller anterior siguen siendo los mismos contextos: membresías, programación, personal e inventario, cada uno con su propia base H2 en memoria. En esta entrega se agregan tres ejes, que son los que se evalúan: seguridad con Keycloak y JWT (20 %), mensajería con RabbitMQ (25 %) y streaming con Kafka (25 %). Todo el sistema, incluidos Keycloak, RabbitMQ y Kafka, se levanta con docker compose up --build. Todo lo que se muestra a continuación se ejecutó sobre el sistema real.</a:t>
            </a:r>
            <a:endParaRPr/>
          </a:p>
        </p:txBody>
      </p:sp>
      <p:sp>
        <p:nvSpPr>
          <p:cNvPr id="31" name="Google Shape;31;h16dd958677814f23_0_69:notes"/>
          <p:cNvSpPr txBox="1"/>
          <p:nvPr>
            <p:ph idx="12" type="sldNum"/>
          </p:nvPr>
        </p:nvSpPr>
        <p:spPr>
          <a:xfrm>
            <a:off x="3884613" y="8685213"/>
            <a:ext cx="2971800" cy="4587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62" name="Shape 6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3" name="Google Shape;63;p2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64" name="Google Shape;64;p2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Tiempo: 1:30. Recorrer el diagrama de arriba hacia abajo. Arriba, las personas (personal y miembros con roles ADMIN, TRAINER o MEMBER) que acceden por Postman o Swagger UI y piden su token a Keycloak. En el centro, los cuatro microservicios Spring Boot, cada uno con su base H2 en memoria: ms-membresias (8081), ms-programacion (8082), ms-personal (8083), ms-inventario (8084). Abajo, la infraestructura: Kafka en modo KRaft, RabbitMQ 3.13 y Keycloak 26.5. Puntos clave: - Los cuatro servicios validan el JWT contra Keycloak (JWKS en el puerto 8080). Es la misma configuración en todos. - La única llamada REST entre servicios es ms-programacion hacia ms-personal, y reenvía el mismo JWT. - RabbitMQ lo usan ms-membresias, ms-programacion y ms-personal. Kafka lo usan ms-membresias (incluido Kafka Streams) y ms-programacion. - ms-inventario solo usa seguridad, sin mensajería. Todo el sistema se levanta con docker compose up --build; lo que se muestra en esta presentación se ejecutó sobre el sistema real.</a:t>
            </a:r>
            <a:endParaRPr/>
          </a:p>
        </p:txBody>
      </p:sp>
      <p:sp>
        <p:nvSpPr>
          <p:cNvPr id="65" name="Google Shape;65;p2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70" name="Shape 7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1" name="Google Shape;71;p3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72" name="Google Shape;72;p3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Tiempo: 0:45. Cada uno de los cuatro microservicios (8081-8084) publica Swagger UI en /swagger-ui/index.html y la especificación en /v3/api-docs, sin token: son las únicas rutas públicas del filter chain. La captura es de ms-programacion: se ve el endpoint de administración de Kafka con su resumen, la descripción del mecanismo de recuperación, los parámetros y la respuesta 202. Cada operación documenta resumen, descripción, parámetros y respuestas con @Tag, @Operation y @Parameter. Las capturas de los cuatro servicios están en docs/taller-2/SWAGGER.md.</a:t>
            </a:r>
            <a:endParaRPr/>
          </a:p>
        </p:txBody>
      </p:sp>
      <p:sp>
        <p:nvSpPr>
          <p:cNvPr id="73" name="Google Shape;73;p3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3" name="Shape 8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4" name="Google Shape;84;p4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85" name="Google Shape;85;p4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Tiempo: 1:30. El realm gimnasio está exportado en keycloak/full-export/ (gimnasio-realm.json y gimnasio-users-0.json) y montado en el contenedor. Keycloak arranca con start-dev --import-realm, así que el realm se reconstruye desde el export cada vez que se recrea el contenedor: cualquier cambio manual en la consola se pierde si no se exporta de nuevo. Hay un cliente confidencial por microservicio (autenticación por client-secret, con Direct Access Grants y Service Accounts habilitados), tres roles de realm y tres usuarios de prueba, uno por rol. Los tokens se firman con RS256 y duran 5 minutos. Si hay tiempo, mostrar la consola de Keycloak en localhost:8080 (roles, clientes y usuarios).</a:t>
            </a:r>
            <a:endParaRPr/>
          </a:p>
        </p:txBody>
      </p:sp>
      <p:sp>
        <p:nvSpPr>
          <p:cNvPr id="86" name="Google Shape;86;p4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13" name="Shape 1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4" name="Google Shape;114;h16dd958677814f23_0_50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15" name="Google Shape;115;h16dd958677814f23_0_50:notes"/>
          <p:cNvSpPr txBox="1"/>
          <p:nvPr>
            <p:ph idx="1" type="body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Tiempo: 1:30. 1. SecurityConfig (ms-membresias/.../config/SecurityConfig.java, L23-L35): sesión stateless, CSRF deshabilitado, Swagger UI y /v3/api-docs públicos, todo lo demás autenticado. El resource server usa JWT con un conversor propio. @EnableMethodSecurity habilita @PreAuthorize. 2. KeycloakRealmRoleConverter (L14-L25): toma realm_access.roles del token y crea una SimpleGrantedAuthority por rol, agregando el prefijo ROLE_ solo si no lo trae. En pantalla está resumido (en el código es un if/else con casts); el comportamiento es el mismo. 3. Cada endpoint declara sus roles con @PreAuthorize. Ejemplo: registrar un pago lo pueden hacer ADMIN y MEMBER. Los cuatro servicios comparten exactamente esta configuración; lo único que cambia son los roles de cada endpoint (tabla completa en la sección 4.3 del informe).</a:t>
            </a:r>
            <a:endParaRPr/>
          </a:p>
        </p:txBody>
      </p:sp>
      <p:sp>
        <p:nvSpPr>
          <p:cNvPr id="116" name="Google Shape;116;h16dd958677814f23_0_50:notes"/>
          <p:cNvSpPr txBox="1"/>
          <p:nvPr>
            <p:ph idx="12" type="sldNum"/>
          </p:nvPr>
        </p:nvSpPr>
        <p:spPr>
          <a:xfrm>
            <a:off x="3884613" y="8685213"/>
            <a:ext cx="2971800" cy="4587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31" name="Shape 13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2" name="Google Shape;132;p5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33" name="Google Shape;133;p5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Tiempo: 2:00. Seguir el diagrama de secuencia (ejemplo GET /api/miembros en ms-membresias): 1. Login: el cliente pide el token a Keycloak con password grant y un cliente *-service. Recibe un access token RS256 con realm_access.roles, expiración de 300 s e issuer localhost:8080. 2. Token válido: BearerTokenAuthenticationFilter pasa el token al proveedor JWT, que valida la firma con las claves públicas del JWKS (en caché, no se llama a Keycloak en cada petición), la expiración y el emisor. El conversor KeycloakRealmRoleConverter transforma realm_access.roles en autoridades de Spring y @PreAuthorize decide. Resultado 200. 3. Sin token o token inválido (malformado, firma alterada, expirado): 401 con el header WWW-Authenticate, emitido por Spring Security. 4. Rol insuficiente: el token es válido pero @PreAuthorize rechaza. Resultado 403 insufficient_scope. Detalle importante: el servicio lee el JWKS por el nombre de red keycloak:8080, pero el claim iss debe coincidir con http://localhost:8080/realms/gimnasio. Por eso el token siempre se pide a localhost:8080. Los cuatro servicios comparten exactamente esta configuración (mismo filter chain, mismo conversor de roles); lo único que cambia son los roles declarados en cada endpoint con @PreAuthorize.</a:t>
            </a:r>
            <a:endParaRPr/>
          </a:p>
        </p:txBody>
      </p:sp>
      <p:sp>
        <p:nvSpPr>
          <p:cNvPr id="134" name="Google Shape;134;p5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50" name="Shape 1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1" name="Google Shape;151;p6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52" name="Google Shape;152;p6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Tiempo: 2:30. DEMO EN VIVO (o reproducir la grabación si el entorno no está disponible). Antes: generar los tokens de admin1, trainer1 y member1 justo antes de este bloque (duran 5 minutos). En Postman, ejecutar la carpeta «0. Auth». Pasos: 1. curl -i http://localhost:8081/api/miembros → 401 y header WWW-Authenticate: Bearer. 2. Authorization: Bearer abc.def.ghi → 401 invalid_token, «Malformed token». 3. Token de MEMBER en GET /api/miembros → 403 insufficient_scope. 4. Token de TRAINER en el mismo endpoint → 200 con la lista de miembros. 5. MEMBER en GET :8082/api/clases/1/entrenador → 200: ms-programacion reenvía el mismo JWT a ms-personal, que lo valida de nuevo. El caso de token expirado (401, «Jwt expired at ...») no se puede hacer en vivo sin esperar más de 5 minutos; está en la tabla de la sección 4.4 del informe. Plan B: si Keycloak o Docker fallan, reproducir el video o mostrar la tabla de la sección 4.4 del informe.</a:t>
            </a:r>
            <a:endParaRPr/>
          </a:p>
        </p:txBody>
      </p:sp>
      <p:sp>
        <p:nvSpPr>
          <p:cNvPr id="153" name="Google Shape;153;p6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58" name="Shape 15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9" name="Google Shape;159;p7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60" name="Google Shape;160;p7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Tiempo: 1:30. Recorrer de izquierda a derecha: el productor solo conoce el exchange y la routing key; el broker enruta a la cola según el binding, y el consumidor escucha la cola. - Inscripción: MiembroService publica en membresias.exchange (topic) con miembro.inscrito → notificacion.inscripcion.queue → NotificacionInscripcionListener. - Cambio de horario: ClaseService (ms-programacion) publica en programacion.exchange (topic) con clase.horario.cambiado → horario.clase.queue → HorarioClaseListener en ms-personal. El productor no conoce a los suscriptores: otro servicio podría suscribirse agregando su cola. - Pagos: pagos.exchange (direct) con pago.procesar → pagos.procesar.queue. Esa cola tiene x-dead-letter-exchange=pagos.dlx y x-dead-letter-routing-key=pago.fallido. Si el consumidor rechaza el mensaje, el broker lo manda a pagos.dlx y de ahí a pagos.dlq, que consume PagoFallidoListener. Serialización JSON con Jackson2JsonMessageConverter, y defaultRequeueRejected=false para que un mensaje que falla no se reencole en bucle. Si preguntan: las colas se llaman pagos.procesar.queue y pagos.dlq (el enunciado sugiere pagos-queue y pagos-dlq); el mecanismo es el mismo.</a:t>
            </a:r>
            <a:endParaRPr/>
          </a:p>
        </p:txBody>
      </p:sp>
      <p:sp>
        <p:nvSpPr>
          <p:cNvPr id="161" name="Google Shape;161;p7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66" name="Shape 16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7" name="Google Shape;167;p8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68" name="Google Shape;168;p8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Tiempo: 2:00. DEMO EN VIVO (o reproducir la grabación si el entorno no está disponible). Tener abiertos en otra terminal los logs: docker compose logs -f ms-membresias ms-personal. 1. Crear un miembro con POST /api/miembros (token de ADMIN, email único). Responde 200 y, casi al mismo tiempo, NotificacionInscripcionListener registra «Notificacion de inscripcion enviada a ...». 2. Cambiar el horario con PATCH /api/clases/1/horario y nuevoHorario. Responde 200 y el log aparece en ms-personal: «Notificando a entrenadorId=1: la clase 'Yoga Matutino' cambio de horario ...». Remarcar que el mensaje cruzó de ms-programacion a ms-personal sin ninguna llamada REST: es publish/subscribe por el exchange. 3. En la consola de RabbitMQ (localhost:15672, guest/guest), las dos colas muestran una entrega más y 0 mensajes pendientes. Las estadísticas de la consola tardan unos 5 s en actualizarse; los logs son inmediatos. El video muestra la ejecución real de este mismo bloque.</a:t>
            </a:r>
            <a:endParaRPr/>
          </a:p>
        </p:txBody>
      </p:sp>
      <p:sp>
        <p:nvSpPr>
          <p:cNvPr id="169" name="Google Shape;169;p8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78" name="Shape 17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9" name="Google Shape;179;p9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80" name="Google Shape;180;p9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Tiempo: 2:00. DEMO EN VIVO (o reproducir la grabación si el entorno no está disponible). 1. Consultar el valor inicial de deliver_get de pagos.dlq (Management API o consola). 2. POST /api/miembros/1/pagos con monto 50000 (token MEMBER) → 202. Log: «Pago procesado para miembroId=1: 50000 (Mensualidad)». 3. POST /api/miembros/1/pagos con monto -10 → también 202, porque el pago se procesa de forma asíncrona. PagoProcesadorListener lanza AmqpRejectAndDontRequeueException; el broker manda el mensaje a pagos.dlx con la routing key pago.fallido, que lo enruta a pagos.dlq. PagoFallidoListener registra «ALERTA: pago rechazado ... requiere seguimiento manual». 4. Esperar unos 5 s y volver a consultar: deliver_get de pagos.dlq sube en 1 y redeliver de pagos.procesar.queue sigue en 0: el mensaje no se reintentó en bucle, pasó directo a la DLQ. Aclarar: pagos.dlq aparece vacía en reposo porque su consumidor la vacía de inmediato; la prueba es el contador de entregas. Si preguntan por reintentos o TTL: no hay configurados; cualquier excepción del listener termina en rechazo sin reencolar (defaultRequeueRejected=false) y por tanto en la DLQ.</a:t>
            </a:r>
            <a:endParaRPr/>
          </a:p>
        </p:txBody>
      </p:sp>
      <p:sp>
        <p:nvSpPr>
          <p:cNvPr id="181" name="Google Shape;181;p9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91" name="Shape 19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2" name="Google Shape;192;p10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93" name="Google Shape;193;p10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Tiempo: 1:30. Un broker Confluent Kafka 7.6.1 en modo KRaft. Los tres topics del proyecto tienen 3 particiones, replication factor 1 y retención de 7 días (retention.ms=604800000), verificados con kafka-topics --describe. - ocupacion-clases: lo produce ClaseService con key claseId; lo consume OcupacionClaseListener en el group ms-programacion-dashboard, con 3 hilos, 1 registro por poll y ack MANUAL_IMMEDIATE. - datos-entrenamiento: lo produce MiembroService con key miembroId; lo consume Kafka Streams (application.id ms-membresias-streams). - entrenamiento-resumen: lo produce Kafka Streams; lo consume ResumenEntrenamientoListener en el group ms-membresias-resumen. ¿Por qué la key es el identificador? Todos los eventos de una misma clase o miembro caen en la misma partición y conservan el orden; además Kafka Streams agrupa por miembro sin reparticionar. El checkpoint de cada consumer group queda en __consumer_offsets, y el estado de Kafka Streams se respalda en su topic changelog.</a:t>
            </a:r>
            <a:endParaRPr/>
          </a:p>
        </p:txBody>
      </p:sp>
      <p:sp>
        <p:nvSpPr>
          <p:cNvPr id="194" name="Google Shape;194;p10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99" name="Shape 19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0" name="Google Shape;200;p11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201" name="Google Shape;201;p11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Tiempo: 2:00. DEMO EN VIVO (o reproducir la grabación si el entorno no está disponible). 1. Mostrar los offsets del group: docker exec kafka_gym_app kafka-consumer-groups --bootstrap-server localhost:9092 --describe --group ms-programacion-dashboard. 2. POST /api/clases/1/ocupacion con {"ocupacionActual":14} (token ADMIN) → 202. ClaseService valida la clase (404) y que la ocupación no sea negativa (400) antes de publicar. 3. En los logs de ms-programacion aparece «Dashboard: clase 1 tiene ahora 14 personas». 4. Repetir el describe o abrir Kafka UI (localhost:8090, consumer group ms-programacion-dashboard): el CURRENT-OFFSET de la partición que recibe la key 1 sube en 1 y el lag queda en 0. En la ejecución registrada fue la partición 0, de 3 a 4. El listener confirma cada mensaje con acknowledge() en modo MANUAL_IMMEDIATE: ese commit es el checkpoint que se usa en la demo de recuperación.</a:t>
            </a:r>
            <a:endParaRPr/>
          </a:p>
        </p:txBody>
      </p:sp>
      <p:sp>
        <p:nvSpPr>
          <p:cNvPr id="202" name="Google Shape;202;p11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11" name="Shape 2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2" name="Google Shape;212;p12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213" name="Google Shape;213;p12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Tiempo: 1:30. DEMO EN VIVO (o reproducir la grabación si el entorno no está disponible). 1. Registrar dos entrenamientos del miembro 1 con POST /api/miembros/1/entrenamientos (token MEMBER): 45 min / 400 cal y 30 min / 250 cal. Ambos responden 202. 2. Esperar 2-3 segundos (commit.interval.ms=1000) y filtrar los logs de ms-membresias por «Resumen de entrenamiento». 3. Resultado: un único resumen con 2 sesiones, 75 minutos y 650 calorías, en la ventana alineada de 5 minutos. Cómo funciona: MiembroService publica en datos-entrenamiento con key miembroId. Kafka Streams agrupa por key, abre ventanas tumbling de 5 minutos, suma minutos y calorías y cuenta sesiones en un state store, y publica cada resumen en entrenamiento-resumen, que consume ResumenEntrenamientoListener. Si preguntan por la ventana: el enunciado pide ventanas de 7 días y el topic resumen-entrenamiento. El código usa ventanas de 5 minutos, para poder ver el resultado durante la demo, y el topic entrenamiento-resumen. Cambiar a 7 días es solo el Duration de windowedBy. La retención de los topics sí es de 7 días.</a:t>
            </a:r>
            <a:endParaRPr/>
          </a:p>
        </p:txBody>
      </p:sp>
      <p:sp>
        <p:nvSpPr>
          <p:cNvPr id="214" name="Google Shape;214;p12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23" name="Shape 22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4" name="Google Shape;224;p13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225" name="Google Shape;225;p13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Tiempo: 2:30. DEMO EN VIVO (o reproducir la grabación si el entorno no está disponible). Son dos mecanismos distintos, y conviene diferenciarlos: A) Reinicio desde el último checkpoint. Mostrar los offsets commiteados del group ms-programacion-dashboard (en la ejecución registrada: p0=4, p1=0, p2=3). Ejecutar docker compose restart ms-programacion y esperar a que esté healthy. En los logs aparece «Setting offset for partition ocupacion-clases-N to the committed offset ...» para cada partición. Pedir un token nuevo de ADMIN y consultar GET /api/admin/kafka/ocupacion-clases/estado: mensajesProcesados es 0, así que no reprocesó nada ya confirmado. Un evento nuevo lo lleva a 1. B) Reproceso completo. Consultar estado (16 en la ejecución registrada), llamar POST .../reiniciar (solo ADMIN) y esperar unos segundos: el listener hace seekToBeginning(), el seek se aplica en el siguiente poll y se reprocesa todo lo retenido. Estado pasa a 23: los 7 mensajes retenidos en las tres particiones. Fundamento: auto-commit desactivado, acknowledge() después de procesar cada mensaje con MANUAL_IMMEDIATE (garantía al menos una vez) y retención de 7 días. Si preguntan por Kafka Streams: su estado se reconstruye desde el topic changelog al reiniciar, pero esa restauración no se probó en esta verificación. Decirlo tal cual. Riesgo: reiniciar ms-programacion borra su H2; el DataLoader vuelve a crear las clases, así que la clase 1 sigue existiendo. Cierre: esta es la última demo, seguida de las conclusiones.</a:t>
            </a:r>
            <a:endParaRPr/>
          </a:p>
        </p:txBody>
      </p:sp>
      <p:sp>
        <p:nvSpPr>
          <p:cNvPr id="226" name="Google Shape;226;p13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DEFAULT">
  <p:cSld name="DEFAULT">
    <p:bg>
      <p:bgPr>
        <a:solidFill>
          <a:schemeClr val="lt1"/>
        </a:solidFill>
      </p:bgPr>
    </p:bg>
    <p:spTree>
      <p:nvGrpSpPr>
        <p:cNvPr id="10" name="Shape 10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9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accent1="accent1" accent2="accent2" accent3="accent3" accent4="accent4" accent5="accent5" accent6="accent6" bg1="lt1" bg2="dk2" tx1="dk1" tx2="lt2" folHlink="folHlink" hlink="hlink"/>
  <p:sldLayoutIdLst>
    <p:sldLayoutId id="2147483649" r:id="rId1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Relationship Id="rId3" Type="http://schemas.openxmlformats.org/officeDocument/2006/relationships/image" Target="../media/image11.png"/></Relationships>
</file>

<file path=ppt/slides/_rels/slide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Relationship Id="rId3" Type="http://schemas.openxmlformats.org/officeDocument/2006/relationships/image" Target="../media/image1.png"/></Relationships>
</file>

<file path=ppt/slides/_rels/slide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Relationship Id="rId3" Type="http://schemas.openxmlformats.org/officeDocument/2006/relationships/image" Target="../media/image2.png"/></Relationships>
</file>

<file path=ppt/slides/_rels/slide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Relationship Id="rId3" Type="http://schemas.openxmlformats.org/officeDocument/2006/relationships/hyperlink" Target="http://drive.google.com/file/d/1WvcG83YqB-6xudUoHaSoftScl-pSAcGi/view" TargetMode="External"/><Relationship Id="rId4" Type="http://schemas.openxmlformats.org/officeDocument/2006/relationships/image" Target="../media/image3.jpg"/></Relationships>
</file>

<file path=ppt/slides/_rels/slide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Relationship Id="rId3" Type="http://schemas.openxmlformats.org/officeDocument/2006/relationships/image" Target="../media/image4.png"/></Relationships>
</file>

<file path=ppt/slides/_rels/slide1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Relationship Id="rId3" Type="http://schemas.openxmlformats.org/officeDocument/2006/relationships/hyperlink" Target="http://drive.google.com/file/d/13NAj8JiMaORyJKLZZ95aju2GDpj3kMTr/view" TargetMode="External"/><Relationship Id="rId4" Type="http://schemas.openxmlformats.org/officeDocument/2006/relationships/image" Target="../media/image6.jpg"/></Relationships>
</file>

<file path=ppt/slides/_rels/slide1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Relationship Id="rId3" Type="http://schemas.openxmlformats.org/officeDocument/2006/relationships/hyperlink" Target="http://drive.google.com/file/d/1Vsetvxy3szgNFbRlUb7uyOVZInBgwKU4/view" TargetMode="External"/><Relationship Id="rId4" Type="http://schemas.openxmlformats.org/officeDocument/2006/relationships/image" Target="../media/image8.jpg"/></Relationships>
</file>

<file path=ppt/slides/_rels/slide1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.xml"/><Relationship Id="rId3" Type="http://schemas.openxmlformats.org/officeDocument/2006/relationships/image" Target="../media/image7.png"/></Relationships>
</file>

<file path=ppt/slides/_rels/slide1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3.xml"/><Relationship Id="rId3" Type="http://schemas.openxmlformats.org/officeDocument/2006/relationships/hyperlink" Target="http://drive.google.com/file/d/1jWp_rsAC9yCbPxErW2RDeP-oF7CCVqfI/view" TargetMode="External"/><Relationship Id="rId4" Type="http://schemas.openxmlformats.org/officeDocument/2006/relationships/image" Target="../media/image10.jpg"/></Relationships>
</file>

<file path=ppt/slides/_rels/slide1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4.xml"/><Relationship Id="rId3" Type="http://schemas.openxmlformats.org/officeDocument/2006/relationships/hyperlink" Target="http://drive.google.com/file/d/1BTTPO8zGVGonQ422UMM2H_FJC6J_BEEo/view" TargetMode="External"/><Relationship Id="rId4" Type="http://schemas.openxmlformats.org/officeDocument/2006/relationships/image" Target="../media/image9.jpg"/></Relationships>
</file>

<file path=ppt/slides/_rels/slide1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5.xml"/><Relationship Id="rId3" Type="http://schemas.openxmlformats.org/officeDocument/2006/relationships/hyperlink" Target="http://drive.google.com/file/d/16DAKM5m-EN2GEmq_KoqskkiUuVYD1Xnh/view" TargetMode="External"/><Relationship Id="rId4" Type="http://schemas.openxmlformats.org/officeDocument/2006/relationships/image" Target="../media/image3.jpg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13233A"/>
        </a:solidFill>
      </p:bgPr>
    </p:bg>
    <p:spTree>
      <p:nvGrpSpPr>
        <p:cNvPr id="15" name="Shape 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Google Shape;16;p1"/>
          <p:cNvSpPr/>
          <p:nvPr/>
        </p:nvSpPr>
        <p:spPr>
          <a:xfrm>
            <a:off x="812782" y="812782"/>
            <a:ext cx="762000" cy="63500"/>
          </a:xfrm>
          <a:prstGeom prst="roundRect">
            <a:avLst>
              <a:gd fmla="val 50000" name="adj"/>
            </a:avLst>
          </a:prstGeom>
          <a:solidFill>
            <a:srgbClr val="6F9BE0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7" name="Google Shape;17;p1"/>
          <p:cNvSpPr/>
          <p:nvPr/>
        </p:nvSpPr>
        <p:spPr>
          <a:xfrm>
            <a:off x="1676346" y="812782"/>
            <a:ext cx="762000" cy="63500"/>
          </a:xfrm>
          <a:prstGeom prst="roundRect">
            <a:avLst>
              <a:gd fmla="val 50000" name="adj"/>
            </a:avLst>
          </a:prstGeom>
          <a:solidFill>
            <a:srgbClr val="F2A65A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8" name="Google Shape;18;p1"/>
          <p:cNvSpPr/>
          <p:nvPr/>
        </p:nvSpPr>
        <p:spPr>
          <a:xfrm>
            <a:off x="2539910" y="812782"/>
            <a:ext cx="762000" cy="63500"/>
          </a:xfrm>
          <a:prstGeom prst="roundRect">
            <a:avLst>
              <a:gd fmla="val 50000" name="adj"/>
            </a:avLst>
          </a:prstGeom>
          <a:solidFill>
            <a:srgbClr val="5FC2B0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9" name="Google Shape;19;p1"/>
          <p:cNvSpPr/>
          <p:nvPr/>
        </p:nvSpPr>
        <p:spPr>
          <a:xfrm>
            <a:off x="812782" y="1079410"/>
            <a:ext cx="10883429" cy="274259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/>
          <a:p>
            <a:pPr indent="0" lvl="0" marL="0" marR="0" rtl="0" algn="l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Clr>
                <a:srgbClr val="F2A65A"/>
              </a:buClr>
              <a:buSzPts val="1400"/>
              <a:buFont typeface="JetBrains Mono"/>
              <a:buNone/>
            </a:pPr>
            <a:r>
              <a:rPr b="0" i="0" lang="en-US" sz="1400" u="none" cap="none" strike="noStrike">
                <a:solidFill>
                  <a:srgbClr val="F2A65A"/>
                </a:solidFill>
                <a:latin typeface="JetBrains Mono"/>
                <a:ea typeface="JetBrains Mono"/>
                <a:cs typeface="JetBrains Mono"/>
                <a:sym typeface="JetBrains Mono"/>
              </a:rPr>
              <a:t>TALLER · MICROSERVICIOS DEL GIMNASIO</a:t>
            </a:r>
            <a:endParaRPr b="0" i="0" sz="1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0" name="Google Shape;20;p1"/>
          <p:cNvSpPr/>
          <p:nvPr/>
        </p:nvSpPr>
        <p:spPr>
          <a:xfrm>
            <a:off x="812782" y="2297365"/>
            <a:ext cx="10883429" cy="1412298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/>
          <a:p>
            <a:pPr indent="0" lvl="0" marL="0" marR="0" rtl="0" algn="l">
              <a:lnSpc>
                <a:spcPct val="104999"/>
              </a:lnSpc>
              <a:spcBef>
                <a:spcPts val="0"/>
              </a:spcBef>
              <a:spcAft>
                <a:spcPts val="0"/>
              </a:spcAft>
              <a:buClr>
                <a:srgbClr val="F5F4EF"/>
              </a:buClr>
              <a:buSzPts val="5200"/>
              <a:buFont typeface="IBM Plex Sans"/>
              <a:buNone/>
            </a:pPr>
            <a:r>
              <a:rPr b="1" i="0" lang="en-US" sz="5200" u="none" cap="none" strike="noStrike">
                <a:solidFill>
                  <a:srgbClr val="F5F4EF"/>
                </a:solidFill>
                <a:latin typeface="IBM Plex Sans"/>
                <a:ea typeface="IBM Plex Sans"/>
                <a:cs typeface="IBM Plex Sans"/>
                <a:sym typeface="IBM Plex Sans"/>
              </a:rPr>
              <a:t>Seguridad, APIs RESTful y comunicación asíncrona</a:t>
            </a:r>
            <a:endParaRPr b="0" i="0" sz="5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1" name="Google Shape;21;p1"/>
          <p:cNvSpPr/>
          <p:nvPr/>
        </p:nvSpPr>
        <p:spPr>
          <a:xfrm>
            <a:off x="812782" y="3912827"/>
            <a:ext cx="10883429" cy="355528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/>
          <a:p>
            <a:pPr indent="0" lvl="0" marL="0" marR="0" rtl="0" algn="l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Clr>
                <a:srgbClr val="BFCBD9"/>
              </a:buClr>
              <a:buSzPts val="2000"/>
              <a:buFont typeface="IBM Plex Sans"/>
              <a:buNone/>
            </a:pPr>
            <a:r>
              <a:rPr b="0" i="0" lang="en-US" sz="2000" u="none" cap="none" strike="noStrike">
                <a:solidFill>
                  <a:srgbClr val="BFCBD9"/>
                </a:solidFill>
                <a:latin typeface="IBM Plex Sans"/>
                <a:ea typeface="IBM Plex Sans"/>
                <a:cs typeface="IBM Plex Sans"/>
                <a:sym typeface="IBM Plex Sans"/>
              </a:rPr>
              <a:t>Keycloak + JWT · RabbitMQ · Kafka y Kafka Streams</a:t>
            </a:r>
            <a:endParaRPr b="0" i="0" sz="2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2" name="Google Shape;22;p1"/>
          <p:cNvSpPr/>
          <p:nvPr/>
        </p:nvSpPr>
        <p:spPr>
          <a:xfrm>
            <a:off x="812782" y="5212051"/>
            <a:ext cx="2483346" cy="23881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/>
          <a:p>
            <a:pPr indent="0" lvl="0" marL="0" marR="0" rtl="0" algn="l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Clr>
                <a:srgbClr val="9FB0C3"/>
              </a:buClr>
              <a:buSzPts val="1200"/>
              <a:buFont typeface="IBM Plex Sans"/>
              <a:buNone/>
            </a:pPr>
            <a:r>
              <a:rPr b="0" i="0" lang="en-US" sz="1200" u="none" cap="none" strike="noStrike">
                <a:solidFill>
                  <a:srgbClr val="9FB0C3"/>
                </a:solidFill>
                <a:latin typeface="IBM Plex Sans"/>
                <a:ea typeface="IBM Plex Sans"/>
                <a:cs typeface="IBM Plex Sans"/>
                <a:sym typeface="IBM Plex Sans"/>
              </a:rPr>
              <a:t>CURSO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3" name="Google Shape;23;p1"/>
          <p:cNvSpPr/>
          <p:nvPr/>
        </p:nvSpPr>
        <p:spPr>
          <a:xfrm>
            <a:off x="812782" y="5476243"/>
            <a:ext cx="2483346" cy="594374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/>
          <a:p>
            <a:pPr indent="0" lvl="0" marL="0" marR="0" rtl="0" algn="l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Clr>
                <a:srgbClr val="F5F4EF"/>
              </a:buClr>
              <a:buSzPts val="1600"/>
              <a:buFont typeface="IBM Plex Sans"/>
              <a:buNone/>
            </a:pPr>
            <a:r>
              <a:rPr b="0" i="0" lang="en-US" sz="1600" u="none" cap="none" strike="noStrike">
                <a:solidFill>
                  <a:srgbClr val="F5F4EF"/>
                </a:solidFill>
                <a:latin typeface="IBM Plex Sans"/>
                <a:ea typeface="IBM Plex Sans"/>
                <a:cs typeface="IBM Plex Sans"/>
                <a:sym typeface="IBM Plex Sans"/>
              </a:rPr>
              <a:t>Desarrollo de Microservicios</a:t>
            </a:r>
            <a:endParaRPr b="0" i="0" sz="16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4" name="Google Shape;24;p1"/>
          <p:cNvSpPr/>
          <p:nvPr/>
        </p:nvSpPr>
        <p:spPr>
          <a:xfrm>
            <a:off x="3833361" y="5212051"/>
            <a:ext cx="3122160" cy="23881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/>
          <a:p>
            <a:pPr indent="0" lvl="0" marL="0" marR="0" rtl="0" algn="l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Clr>
                <a:srgbClr val="9FB0C3"/>
              </a:buClr>
              <a:buSzPts val="1200"/>
              <a:buFont typeface="IBM Plex Sans"/>
              <a:buNone/>
            </a:pPr>
            <a:r>
              <a:rPr b="0" i="0" lang="en-US" sz="1200" u="none" cap="none" strike="noStrike">
                <a:solidFill>
                  <a:srgbClr val="9FB0C3"/>
                </a:solidFill>
                <a:latin typeface="IBM Plex Sans"/>
                <a:ea typeface="IBM Plex Sans"/>
                <a:cs typeface="IBM Plex Sans"/>
                <a:sym typeface="IBM Plex Sans"/>
              </a:rPr>
              <a:t>INTEGRANTES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5" name="Google Shape;25;p1"/>
          <p:cNvSpPr/>
          <p:nvPr/>
        </p:nvSpPr>
        <p:spPr>
          <a:xfrm>
            <a:off x="3833361" y="5476243"/>
            <a:ext cx="3122160" cy="594374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/>
          <a:p>
            <a:pPr indent="0" lvl="0" marL="0" marR="0" rtl="0" algn="l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Clr>
                <a:srgbClr val="F5F4EF"/>
              </a:buClr>
              <a:buSzPts val="1600"/>
              <a:buFont typeface="IBM Plex Sans"/>
              <a:buNone/>
            </a:pPr>
            <a:r>
              <a:rPr lang="en-US" sz="1600">
                <a:solidFill>
                  <a:srgbClr val="F5F4EF"/>
                </a:solidFill>
                <a:latin typeface="IBM Plex Sans"/>
                <a:ea typeface="IBM Plex Sans"/>
                <a:cs typeface="IBM Plex Sans"/>
                <a:sym typeface="IBM Plex Sans"/>
              </a:rPr>
              <a:t>Martín</a:t>
            </a:r>
            <a:r>
              <a:rPr b="0" i="0" lang="en-US" sz="1600" u="none" cap="none" strike="noStrike">
                <a:solidFill>
                  <a:srgbClr val="F5F4EF"/>
                </a:solidFill>
                <a:latin typeface="IBM Plex Sans"/>
                <a:ea typeface="IBM Plex Sans"/>
                <a:cs typeface="IBM Plex Sans"/>
                <a:sym typeface="IBM Plex Sans"/>
              </a:rPr>
              <a:t> Gámez y Juan Camilo Muñoz</a:t>
            </a:r>
            <a:endParaRPr b="0" i="0" sz="16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6" name="Google Shape;26;p1"/>
          <p:cNvSpPr/>
          <p:nvPr/>
        </p:nvSpPr>
        <p:spPr>
          <a:xfrm>
            <a:off x="7474148" y="5212051"/>
            <a:ext cx="4022221" cy="23881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/>
          <a:p>
            <a:pPr indent="0" lvl="0" marL="0" marR="0" rtl="0" algn="l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Clr>
                <a:srgbClr val="9FB0C3"/>
              </a:buClr>
              <a:buSzPts val="1200"/>
              <a:buFont typeface="IBM Plex Sans"/>
              <a:buNone/>
            </a:pPr>
            <a:r>
              <a:rPr b="0" i="0" lang="en-US" sz="1200" u="none" cap="none" strike="noStrike">
                <a:solidFill>
                  <a:srgbClr val="9FB0C3"/>
                </a:solidFill>
                <a:latin typeface="IBM Plex Sans"/>
                <a:ea typeface="IBM Plex Sans"/>
                <a:cs typeface="IBM Plex Sans"/>
                <a:sym typeface="IBM Plex Sans"/>
              </a:rPr>
              <a:t>STACK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7" name="Google Shape;27;p1"/>
          <p:cNvSpPr/>
          <p:nvPr/>
        </p:nvSpPr>
        <p:spPr>
          <a:xfrm>
            <a:off x="7474148" y="5476243"/>
            <a:ext cx="4022221" cy="594374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/>
          <a:p>
            <a:pPr indent="0" lvl="0" marL="0" marR="0" rtl="0" algn="l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Clr>
                <a:srgbClr val="F5F4EF"/>
              </a:buClr>
              <a:buSzPts val="1600"/>
              <a:buFont typeface="IBM Plex Sans"/>
              <a:buNone/>
            </a:pPr>
            <a:r>
              <a:rPr b="0" i="0" lang="en-US" sz="1600" u="none" cap="none" strike="noStrike">
                <a:solidFill>
                  <a:srgbClr val="F5F4EF"/>
                </a:solidFill>
                <a:latin typeface="IBM Plex Sans"/>
                <a:ea typeface="IBM Plex Sans"/>
                <a:cs typeface="IBM Plex Sans"/>
                <a:sym typeface="IBM Plex Sans"/>
              </a:rPr>
              <a:t>Java 17 · Spring Boot 3.3.2 · Docker Compose</a:t>
            </a:r>
            <a:endParaRPr b="0" i="0" sz="16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5F4EF"/>
        </a:solidFill>
      </p:bgPr>
    </p:bg>
    <p:spTree>
      <p:nvGrpSpPr>
        <p:cNvPr id="32" name="Shape 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" name="Google Shape;33;h16dd958677814f23_0_69"/>
          <p:cNvSpPr/>
          <p:nvPr/>
        </p:nvSpPr>
        <p:spPr>
          <a:xfrm>
            <a:off x="812782" y="609564"/>
            <a:ext cx="10883400" cy="238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Clr>
                <a:srgbClr val="4A5363"/>
              </a:buClr>
              <a:buSzPts val="1200"/>
              <a:buFont typeface="JetBrains Mono"/>
              <a:buNone/>
            </a:pPr>
            <a:r>
              <a:rPr b="0" i="0" lang="en-US" sz="1200" u="none" cap="none" strike="noStrike">
                <a:solidFill>
                  <a:srgbClr val="4A5363"/>
                </a:solidFill>
                <a:latin typeface="JetBrains Mono"/>
                <a:ea typeface="JetBrains Mono"/>
                <a:cs typeface="JetBrains Mono"/>
                <a:sym typeface="JetBrains Mono"/>
              </a:rPr>
              <a:t>CONTEXTO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4" name="Google Shape;34;h16dd958677814f23_0_69"/>
          <p:cNvSpPr/>
          <p:nvPr/>
        </p:nvSpPr>
        <p:spPr>
          <a:xfrm>
            <a:off x="812782" y="899102"/>
            <a:ext cx="10883400" cy="444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>
                <a:srgbClr val="13233A"/>
              </a:buClr>
              <a:buSzPts val="3000"/>
              <a:buFont typeface="IBM Plex Sans"/>
              <a:buNone/>
            </a:pPr>
            <a:r>
              <a:rPr b="1" i="0" lang="en-US" sz="3000" u="none" cap="none" strike="noStrike">
                <a:solidFill>
                  <a:srgbClr val="13233A"/>
                </a:solidFill>
                <a:latin typeface="IBM Plex Sans"/>
                <a:ea typeface="IBM Plex Sans"/>
                <a:cs typeface="IBM Plex Sans"/>
                <a:sym typeface="IBM Plex Sans"/>
              </a:rPr>
              <a:t>Cuatro microservicios, tres ejes evaluados</a:t>
            </a:r>
            <a:endParaRPr b="0" i="0" sz="3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5" name="Google Shape;35;h16dd958677814f23_0_69"/>
          <p:cNvSpPr/>
          <p:nvPr/>
        </p:nvSpPr>
        <p:spPr>
          <a:xfrm>
            <a:off x="815957" y="1626123"/>
            <a:ext cx="2520900" cy="1506000"/>
          </a:xfrm>
          <a:prstGeom prst="roundRect">
            <a:avLst>
              <a:gd fmla="val 6536" name="adj"/>
            </a:avLst>
          </a:prstGeom>
          <a:solidFill>
            <a:srgbClr val="FCFCFA"/>
          </a:solidFill>
          <a:ln cap="flat" cmpd="sng" w="9525">
            <a:solidFill>
              <a:srgbClr val="DEDBD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6" name="Google Shape;36;h16dd958677814f23_0_69"/>
          <p:cNvSpPr/>
          <p:nvPr/>
        </p:nvSpPr>
        <p:spPr>
          <a:xfrm>
            <a:off x="1047119" y="1831849"/>
            <a:ext cx="2120400" cy="238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Clr>
                <a:srgbClr val="4A5363"/>
              </a:buClr>
              <a:buSzPts val="1200"/>
              <a:buFont typeface="JetBrains Mono"/>
              <a:buNone/>
            </a:pPr>
            <a:r>
              <a:rPr b="0" i="0" lang="en-US" sz="1200" u="none" cap="none" strike="noStrike">
                <a:solidFill>
                  <a:srgbClr val="4A5363"/>
                </a:solidFill>
                <a:latin typeface="JetBrains Mono"/>
                <a:ea typeface="JetBrains Mono"/>
                <a:cs typeface="JetBrains Mono"/>
                <a:sym typeface="JetBrains Mono"/>
              </a:rPr>
              <a:t>:8081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7" name="Google Shape;37;h16dd958677814f23_0_69"/>
          <p:cNvSpPr/>
          <p:nvPr/>
        </p:nvSpPr>
        <p:spPr>
          <a:xfrm>
            <a:off x="1047119" y="2108759"/>
            <a:ext cx="2120400" cy="299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rgbClr val="13233A"/>
              </a:buClr>
              <a:buSzPts val="1800"/>
              <a:buFont typeface="IBM Plex Sans"/>
              <a:buNone/>
            </a:pPr>
            <a:r>
              <a:rPr b="1" i="0" lang="en-US" sz="1800" u="none" cap="none" strike="noStrike">
                <a:solidFill>
                  <a:srgbClr val="13233A"/>
                </a:solidFill>
                <a:latin typeface="IBM Plex Sans"/>
                <a:ea typeface="IBM Plex Sans"/>
                <a:cs typeface="IBM Plex Sans"/>
                <a:sym typeface="IBM Plex Sans"/>
              </a:rPr>
              <a:t>ms-membresias</a:t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8" name="Google Shape;38;h16dd958677814f23_0_69"/>
          <p:cNvSpPr/>
          <p:nvPr/>
        </p:nvSpPr>
        <p:spPr>
          <a:xfrm>
            <a:off x="1047119" y="2446463"/>
            <a:ext cx="2120400" cy="505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35000"/>
              </a:lnSpc>
              <a:spcBef>
                <a:spcPts val="0"/>
              </a:spcBef>
              <a:spcAft>
                <a:spcPts val="0"/>
              </a:spcAft>
              <a:buClr>
                <a:srgbClr val="4A5363"/>
              </a:buClr>
              <a:buSzPts val="1400"/>
              <a:buFont typeface="IBM Plex Sans"/>
              <a:buNone/>
            </a:pPr>
            <a:r>
              <a:rPr b="0" i="0" lang="en-US" sz="1400" u="none" cap="none" strike="noStrike">
                <a:solidFill>
                  <a:srgbClr val="4A5363"/>
                </a:solidFill>
                <a:latin typeface="IBM Plex Sans"/>
                <a:ea typeface="IBM Plex Sans"/>
                <a:cs typeface="IBM Plex Sans"/>
                <a:sym typeface="IBM Plex Sans"/>
              </a:rPr>
              <a:t>Miembros, pagos y entrenamientos</a:t>
            </a:r>
            <a:endParaRPr b="0" i="0" sz="1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9" name="Google Shape;39;h16dd958677814f23_0_69"/>
          <p:cNvSpPr/>
          <p:nvPr/>
        </p:nvSpPr>
        <p:spPr>
          <a:xfrm>
            <a:off x="3495585" y="1626123"/>
            <a:ext cx="2520900" cy="1506000"/>
          </a:xfrm>
          <a:prstGeom prst="roundRect">
            <a:avLst>
              <a:gd fmla="val 6536" name="adj"/>
            </a:avLst>
          </a:prstGeom>
          <a:solidFill>
            <a:srgbClr val="FCFCFA"/>
          </a:solidFill>
          <a:ln cap="flat" cmpd="sng" w="9525">
            <a:solidFill>
              <a:srgbClr val="DEDBD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0" name="Google Shape;40;h16dd958677814f23_0_69"/>
          <p:cNvSpPr/>
          <p:nvPr/>
        </p:nvSpPr>
        <p:spPr>
          <a:xfrm>
            <a:off x="3726746" y="1831849"/>
            <a:ext cx="2120400" cy="238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Clr>
                <a:srgbClr val="4A5363"/>
              </a:buClr>
              <a:buSzPts val="1200"/>
              <a:buFont typeface="JetBrains Mono"/>
              <a:buNone/>
            </a:pPr>
            <a:r>
              <a:rPr b="0" i="0" lang="en-US" sz="1200" u="none" cap="none" strike="noStrike">
                <a:solidFill>
                  <a:srgbClr val="4A5363"/>
                </a:solidFill>
                <a:latin typeface="JetBrains Mono"/>
                <a:ea typeface="JetBrains Mono"/>
                <a:cs typeface="JetBrains Mono"/>
                <a:sym typeface="JetBrains Mono"/>
              </a:rPr>
              <a:t>:8082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1" name="Google Shape;41;h16dd958677814f23_0_69"/>
          <p:cNvSpPr/>
          <p:nvPr/>
        </p:nvSpPr>
        <p:spPr>
          <a:xfrm>
            <a:off x="3726746" y="2108759"/>
            <a:ext cx="2120400" cy="299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rgbClr val="13233A"/>
              </a:buClr>
              <a:buSzPts val="1800"/>
              <a:buFont typeface="IBM Plex Sans"/>
              <a:buNone/>
            </a:pPr>
            <a:r>
              <a:rPr b="1" i="0" lang="en-US" sz="1800" u="none" cap="none" strike="noStrike">
                <a:solidFill>
                  <a:srgbClr val="13233A"/>
                </a:solidFill>
                <a:latin typeface="IBM Plex Sans"/>
                <a:ea typeface="IBM Plex Sans"/>
                <a:cs typeface="IBM Plex Sans"/>
                <a:sym typeface="IBM Plex Sans"/>
              </a:rPr>
              <a:t>ms-programacion</a:t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2" name="Google Shape;42;h16dd958677814f23_0_69"/>
          <p:cNvSpPr/>
          <p:nvPr/>
        </p:nvSpPr>
        <p:spPr>
          <a:xfrm>
            <a:off x="3726746" y="2446463"/>
            <a:ext cx="2120400" cy="505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35000"/>
              </a:lnSpc>
              <a:spcBef>
                <a:spcPts val="0"/>
              </a:spcBef>
              <a:spcAft>
                <a:spcPts val="0"/>
              </a:spcAft>
              <a:buClr>
                <a:srgbClr val="4A5363"/>
              </a:buClr>
              <a:buSzPts val="1400"/>
              <a:buFont typeface="IBM Plex Sans"/>
              <a:buNone/>
            </a:pPr>
            <a:r>
              <a:rPr b="0" i="0" lang="en-US" sz="1400" u="none" cap="none" strike="noStrike">
                <a:solidFill>
                  <a:srgbClr val="4A5363"/>
                </a:solidFill>
                <a:latin typeface="IBM Plex Sans"/>
                <a:ea typeface="IBM Plex Sans"/>
                <a:cs typeface="IBM Plex Sans"/>
                <a:sym typeface="IBM Plex Sans"/>
              </a:rPr>
              <a:t>Clases, horarios y ocupación</a:t>
            </a:r>
            <a:endParaRPr b="0" i="0" sz="1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3" name="Google Shape;43;h16dd958677814f23_0_69"/>
          <p:cNvSpPr/>
          <p:nvPr/>
        </p:nvSpPr>
        <p:spPr>
          <a:xfrm>
            <a:off x="6175303" y="1626123"/>
            <a:ext cx="2520900" cy="1506000"/>
          </a:xfrm>
          <a:prstGeom prst="roundRect">
            <a:avLst>
              <a:gd fmla="val 6536" name="adj"/>
            </a:avLst>
          </a:prstGeom>
          <a:solidFill>
            <a:srgbClr val="FCFCFA"/>
          </a:solidFill>
          <a:ln cap="flat" cmpd="sng" w="9525">
            <a:solidFill>
              <a:srgbClr val="DEDBD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4" name="Google Shape;44;h16dd958677814f23_0_69"/>
          <p:cNvSpPr/>
          <p:nvPr/>
        </p:nvSpPr>
        <p:spPr>
          <a:xfrm>
            <a:off x="6406464" y="1831849"/>
            <a:ext cx="2120400" cy="238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Clr>
                <a:srgbClr val="4A5363"/>
              </a:buClr>
              <a:buSzPts val="1200"/>
              <a:buFont typeface="JetBrains Mono"/>
              <a:buNone/>
            </a:pPr>
            <a:r>
              <a:rPr b="0" i="0" lang="en-US" sz="1200" u="none" cap="none" strike="noStrike">
                <a:solidFill>
                  <a:srgbClr val="4A5363"/>
                </a:solidFill>
                <a:latin typeface="JetBrains Mono"/>
                <a:ea typeface="JetBrains Mono"/>
                <a:cs typeface="JetBrains Mono"/>
                <a:sym typeface="JetBrains Mono"/>
              </a:rPr>
              <a:t>:8083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5" name="Google Shape;45;h16dd958677814f23_0_69"/>
          <p:cNvSpPr/>
          <p:nvPr/>
        </p:nvSpPr>
        <p:spPr>
          <a:xfrm>
            <a:off x="6406464" y="2108759"/>
            <a:ext cx="2120400" cy="299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rgbClr val="13233A"/>
              </a:buClr>
              <a:buSzPts val="1800"/>
              <a:buFont typeface="IBM Plex Sans"/>
              <a:buNone/>
            </a:pPr>
            <a:r>
              <a:rPr b="1" i="0" lang="en-US" sz="1800" u="none" cap="none" strike="noStrike">
                <a:solidFill>
                  <a:srgbClr val="13233A"/>
                </a:solidFill>
                <a:latin typeface="IBM Plex Sans"/>
                <a:ea typeface="IBM Plex Sans"/>
                <a:cs typeface="IBM Plex Sans"/>
                <a:sym typeface="IBM Plex Sans"/>
              </a:rPr>
              <a:t>ms-personal</a:t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6" name="Google Shape;46;h16dd958677814f23_0_69"/>
          <p:cNvSpPr/>
          <p:nvPr/>
        </p:nvSpPr>
        <p:spPr>
          <a:xfrm>
            <a:off x="6406464" y="2446463"/>
            <a:ext cx="2120400" cy="265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35000"/>
              </a:lnSpc>
              <a:spcBef>
                <a:spcPts val="0"/>
              </a:spcBef>
              <a:spcAft>
                <a:spcPts val="0"/>
              </a:spcAft>
              <a:buClr>
                <a:srgbClr val="4A5363"/>
              </a:buClr>
              <a:buSzPts val="1400"/>
              <a:buFont typeface="IBM Plex Sans"/>
              <a:buNone/>
            </a:pPr>
            <a:r>
              <a:rPr b="0" i="0" lang="en-US" sz="1400" u="none" cap="none" strike="noStrike">
                <a:solidFill>
                  <a:srgbClr val="4A5363"/>
                </a:solidFill>
                <a:latin typeface="IBM Plex Sans"/>
                <a:ea typeface="IBM Plex Sans"/>
                <a:cs typeface="IBM Plex Sans"/>
                <a:sym typeface="IBM Plex Sans"/>
              </a:rPr>
              <a:t>Entrenadores</a:t>
            </a:r>
            <a:endParaRPr b="0" i="0" sz="1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7" name="Google Shape;47;h16dd958677814f23_0_69"/>
          <p:cNvSpPr/>
          <p:nvPr/>
        </p:nvSpPr>
        <p:spPr>
          <a:xfrm>
            <a:off x="8855021" y="1626123"/>
            <a:ext cx="2520900" cy="1506000"/>
          </a:xfrm>
          <a:prstGeom prst="roundRect">
            <a:avLst>
              <a:gd fmla="val 6536" name="adj"/>
            </a:avLst>
          </a:prstGeom>
          <a:solidFill>
            <a:srgbClr val="FCFCFA"/>
          </a:solidFill>
          <a:ln cap="flat" cmpd="sng" w="9525">
            <a:solidFill>
              <a:srgbClr val="DEDBD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8" name="Google Shape;48;h16dd958677814f23_0_69"/>
          <p:cNvSpPr/>
          <p:nvPr/>
        </p:nvSpPr>
        <p:spPr>
          <a:xfrm>
            <a:off x="9086182" y="1831849"/>
            <a:ext cx="2120400" cy="238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Clr>
                <a:srgbClr val="4A5363"/>
              </a:buClr>
              <a:buSzPts val="1200"/>
              <a:buFont typeface="JetBrains Mono"/>
              <a:buNone/>
            </a:pPr>
            <a:r>
              <a:rPr b="0" i="0" lang="en-US" sz="1200" u="none" cap="none" strike="noStrike">
                <a:solidFill>
                  <a:srgbClr val="4A5363"/>
                </a:solidFill>
                <a:latin typeface="JetBrains Mono"/>
                <a:ea typeface="JetBrains Mono"/>
                <a:cs typeface="JetBrains Mono"/>
                <a:sym typeface="JetBrains Mono"/>
              </a:rPr>
              <a:t>:8084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9" name="Google Shape;49;h16dd958677814f23_0_69"/>
          <p:cNvSpPr/>
          <p:nvPr/>
        </p:nvSpPr>
        <p:spPr>
          <a:xfrm>
            <a:off x="9086182" y="2108759"/>
            <a:ext cx="2120400" cy="299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rgbClr val="13233A"/>
              </a:buClr>
              <a:buSzPts val="1800"/>
              <a:buFont typeface="IBM Plex Sans"/>
              <a:buNone/>
            </a:pPr>
            <a:r>
              <a:rPr b="1" i="0" lang="en-US" sz="1800" u="none" cap="none" strike="noStrike">
                <a:solidFill>
                  <a:srgbClr val="13233A"/>
                </a:solidFill>
                <a:latin typeface="IBM Plex Sans"/>
                <a:ea typeface="IBM Plex Sans"/>
                <a:cs typeface="IBM Plex Sans"/>
                <a:sym typeface="IBM Plex Sans"/>
              </a:rPr>
              <a:t>ms-inventario</a:t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0" name="Google Shape;50;h16dd958677814f23_0_69"/>
          <p:cNvSpPr/>
          <p:nvPr/>
        </p:nvSpPr>
        <p:spPr>
          <a:xfrm>
            <a:off x="9086182" y="2446463"/>
            <a:ext cx="2120400" cy="265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35000"/>
              </a:lnSpc>
              <a:spcBef>
                <a:spcPts val="0"/>
              </a:spcBef>
              <a:spcAft>
                <a:spcPts val="0"/>
              </a:spcAft>
              <a:buClr>
                <a:srgbClr val="4A5363"/>
              </a:buClr>
              <a:buSzPts val="1400"/>
              <a:buFont typeface="IBM Plex Sans"/>
              <a:buNone/>
            </a:pPr>
            <a:r>
              <a:rPr b="0" i="0" lang="en-US" sz="1400" u="none" cap="none" strike="noStrike">
                <a:solidFill>
                  <a:srgbClr val="4A5363"/>
                </a:solidFill>
                <a:latin typeface="IBM Plex Sans"/>
                <a:ea typeface="IBM Plex Sans"/>
                <a:cs typeface="IBM Plex Sans"/>
                <a:sym typeface="IBM Plex Sans"/>
              </a:rPr>
              <a:t>Equipos</a:t>
            </a:r>
            <a:endParaRPr b="0" i="0" sz="1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cxnSp>
        <p:nvCxnSpPr>
          <p:cNvPr id="51" name="Google Shape;51;h16dd958677814f23_0_69"/>
          <p:cNvCxnSpPr/>
          <p:nvPr/>
        </p:nvCxnSpPr>
        <p:spPr>
          <a:xfrm>
            <a:off x="838182" y="3440004"/>
            <a:ext cx="0" cy="962400"/>
          </a:xfrm>
          <a:prstGeom prst="straightConnector1">
            <a:avLst/>
          </a:prstGeom>
          <a:noFill/>
          <a:ln cap="flat" cmpd="sng" w="50800">
            <a:solidFill>
              <a:srgbClr val="2F5FA7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52" name="Google Shape;52;h16dd958677814f23_0_69"/>
          <p:cNvSpPr/>
          <p:nvPr/>
        </p:nvSpPr>
        <p:spPr>
          <a:xfrm>
            <a:off x="1062092" y="3490786"/>
            <a:ext cx="3266400" cy="3303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rgbClr val="2F5FA7"/>
              </a:buClr>
              <a:buSzPts val="2000"/>
              <a:buFont typeface="IBM Plex Sans"/>
              <a:buNone/>
            </a:pPr>
            <a:r>
              <a:rPr b="1" i="0" lang="en-US" sz="2000" u="none" cap="none" strike="noStrike">
                <a:solidFill>
                  <a:srgbClr val="2F5FA7"/>
                </a:solidFill>
                <a:latin typeface="IBM Plex Sans"/>
                <a:ea typeface="IBM Plex Sans"/>
                <a:cs typeface="IBM Plex Sans"/>
                <a:sym typeface="IBM Plex Sans"/>
              </a:rPr>
              <a:t>Seguridad · 20 %</a:t>
            </a:r>
            <a:endParaRPr b="0" i="0" sz="2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3" name="Google Shape;53;h16dd958677814f23_0_69"/>
          <p:cNvSpPr/>
          <p:nvPr/>
        </p:nvSpPr>
        <p:spPr>
          <a:xfrm>
            <a:off x="1062092" y="3871695"/>
            <a:ext cx="3266400" cy="505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35000"/>
              </a:lnSpc>
              <a:spcBef>
                <a:spcPts val="0"/>
              </a:spcBef>
              <a:spcAft>
                <a:spcPts val="0"/>
              </a:spcAft>
              <a:buClr>
                <a:srgbClr val="4A5363"/>
              </a:buClr>
              <a:buSzPts val="1400"/>
              <a:buFont typeface="IBM Plex Sans"/>
              <a:buNone/>
            </a:pPr>
            <a:r>
              <a:rPr b="0" i="0" lang="en-US" sz="1400" u="none" cap="none" strike="noStrike">
                <a:solidFill>
                  <a:srgbClr val="4A5363"/>
                </a:solidFill>
                <a:latin typeface="IBM Plex Sans"/>
                <a:ea typeface="IBM Plex Sans"/>
                <a:cs typeface="IBM Plex Sans"/>
                <a:sym typeface="IBM Plex Sans"/>
              </a:rPr>
              <a:t>Keycloak, Spring Security, JWT, roles y OpenAPI</a:t>
            </a:r>
            <a:endParaRPr b="0" i="0" sz="1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cxnSp>
        <p:nvCxnSpPr>
          <p:cNvPr id="54" name="Google Shape;54;h16dd958677814f23_0_69"/>
          <p:cNvCxnSpPr/>
          <p:nvPr/>
        </p:nvCxnSpPr>
        <p:spPr>
          <a:xfrm>
            <a:off x="4411049" y="3440004"/>
            <a:ext cx="0" cy="962400"/>
          </a:xfrm>
          <a:prstGeom prst="straightConnector1">
            <a:avLst/>
          </a:prstGeom>
          <a:noFill/>
          <a:ln cap="flat" cmpd="sng" w="50800">
            <a:solidFill>
              <a:srgbClr val="B4530F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55" name="Google Shape;55;h16dd958677814f23_0_69"/>
          <p:cNvSpPr/>
          <p:nvPr/>
        </p:nvSpPr>
        <p:spPr>
          <a:xfrm>
            <a:off x="4634959" y="3490786"/>
            <a:ext cx="3266400" cy="3303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rgbClr val="B4530F"/>
              </a:buClr>
              <a:buSzPts val="2000"/>
              <a:buFont typeface="IBM Plex Sans"/>
              <a:buNone/>
            </a:pPr>
            <a:r>
              <a:rPr b="1" i="0" lang="en-US" sz="2000" u="none" cap="none" strike="noStrike">
                <a:solidFill>
                  <a:srgbClr val="B4530F"/>
                </a:solidFill>
                <a:latin typeface="IBM Plex Sans"/>
                <a:ea typeface="IBM Plex Sans"/>
                <a:cs typeface="IBM Plex Sans"/>
                <a:sym typeface="IBM Plex Sans"/>
              </a:rPr>
              <a:t>RabbitMQ · 25 %</a:t>
            </a:r>
            <a:endParaRPr b="0" i="0" sz="2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6" name="Google Shape;56;h16dd958677814f23_0_69"/>
          <p:cNvSpPr/>
          <p:nvPr/>
        </p:nvSpPr>
        <p:spPr>
          <a:xfrm>
            <a:off x="4634959" y="3871695"/>
            <a:ext cx="3266400" cy="505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35000"/>
              </a:lnSpc>
              <a:spcBef>
                <a:spcPts val="0"/>
              </a:spcBef>
              <a:spcAft>
                <a:spcPts val="0"/>
              </a:spcAft>
              <a:buClr>
                <a:srgbClr val="4A5363"/>
              </a:buClr>
              <a:buSzPts val="1400"/>
              <a:buFont typeface="IBM Plex Sans"/>
              <a:buNone/>
            </a:pPr>
            <a:r>
              <a:rPr b="0" i="0" lang="en-US" sz="1400" u="none" cap="none" strike="noStrike">
                <a:solidFill>
                  <a:srgbClr val="4A5363"/>
                </a:solidFill>
                <a:latin typeface="IBM Plex Sans"/>
                <a:ea typeface="IBM Plex Sans"/>
                <a:cs typeface="IBM Plex Sans"/>
                <a:sym typeface="IBM Plex Sans"/>
              </a:rPr>
              <a:t>Inscripciones, horarios pub/sub y DLQ de pagos</a:t>
            </a:r>
            <a:endParaRPr b="0" i="0" sz="1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cxnSp>
        <p:nvCxnSpPr>
          <p:cNvPr id="57" name="Google Shape;57;h16dd958677814f23_0_69"/>
          <p:cNvCxnSpPr/>
          <p:nvPr/>
        </p:nvCxnSpPr>
        <p:spPr>
          <a:xfrm>
            <a:off x="7984006" y="3440004"/>
            <a:ext cx="0" cy="962400"/>
          </a:xfrm>
          <a:prstGeom prst="straightConnector1">
            <a:avLst/>
          </a:prstGeom>
          <a:noFill/>
          <a:ln cap="flat" cmpd="sng" w="50800">
            <a:solidFill>
              <a:srgbClr val="0E6E62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58" name="Google Shape;58;h16dd958677814f23_0_69"/>
          <p:cNvSpPr/>
          <p:nvPr/>
        </p:nvSpPr>
        <p:spPr>
          <a:xfrm>
            <a:off x="8207916" y="3490786"/>
            <a:ext cx="3266400" cy="3303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rgbClr val="0E6E62"/>
              </a:buClr>
              <a:buSzPts val="2000"/>
              <a:buFont typeface="IBM Plex Sans"/>
              <a:buNone/>
            </a:pPr>
            <a:r>
              <a:rPr b="1" i="0" lang="en-US" sz="2000" u="none" cap="none" strike="noStrike">
                <a:solidFill>
                  <a:srgbClr val="0E6E62"/>
                </a:solidFill>
                <a:latin typeface="IBM Plex Sans"/>
                <a:ea typeface="IBM Plex Sans"/>
                <a:cs typeface="IBM Plex Sans"/>
                <a:sym typeface="IBM Plex Sans"/>
              </a:rPr>
              <a:t>Kafka · 25 %</a:t>
            </a:r>
            <a:endParaRPr b="0" i="0" sz="2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9" name="Google Shape;59;h16dd958677814f23_0_69"/>
          <p:cNvSpPr/>
          <p:nvPr/>
        </p:nvSpPr>
        <p:spPr>
          <a:xfrm>
            <a:off x="8207916" y="3871695"/>
            <a:ext cx="3266400" cy="505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35000"/>
              </a:lnSpc>
              <a:spcBef>
                <a:spcPts val="0"/>
              </a:spcBef>
              <a:spcAft>
                <a:spcPts val="0"/>
              </a:spcAft>
              <a:buClr>
                <a:srgbClr val="4A5363"/>
              </a:buClr>
              <a:buSzPts val="1400"/>
              <a:buFont typeface="IBM Plex Sans"/>
              <a:buNone/>
            </a:pPr>
            <a:r>
              <a:rPr b="0" i="0" lang="en-US" sz="1400" u="none" cap="none" strike="noStrike">
                <a:solidFill>
                  <a:srgbClr val="4A5363"/>
                </a:solidFill>
                <a:latin typeface="IBM Plex Sans"/>
                <a:ea typeface="IBM Plex Sans"/>
                <a:cs typeface="IBM Plex Sans"/>
                <a:sym typeface="IBM Plex Sans"/>
              </a:rPr>
              <a:t>Ocupación en tiempo real, Kafka Streams y recuperación</a:t>
            </a:r>
            <a:endParaRPr b="0" i="0" sz="1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0" name="Google Shape;60;h16dd958677814f23_0_69"/>
          <p:cNvSpPr/>
          <p:nvPr/>
        </p:nvSpPr>
        <p:spPr>
          <a:xfrm>
            <a:off x="812782" y="6238242"/>
            <a:ext cx="8502600" cy="238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Clr>
                <a:srgbClr val="5F6673"/>
              </a:buClr>
              <a:buSzPts val="1200"/>
              <a:buFont typeface="IBM Plex Sans"/>
              <a:buNone/>
            </a:pPr>
            <a:r>
              <a:rPr b="0" i="0" lang="en-US" sz="1200" u="none" cap="none" strike="noStrike">
                <a:solidFill>
                  <a:srgbClr val="5F6673"/>
                </a:solidFill>
                <a:latin typeface="IBM Plex Sans"/>
                <a:ea typeface="IBM Plex Sans"/>
                <a:cs typeface="IBM Plex Sans"/>
                <a:sym typeface="IBM Plex Sans"/>
              </a:rPr>
              <a:t>Microservicios Gym · Seguridad y comunicación asíncrona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1" name="Google Shape;61;h16dd958677814f23_0_69"/>
          <p:cNvSpPr/>
          <p:nvPr/>
        </p:nvSpPr>
        <p:spPr>
          <a:xfrm>
            <a:off x="10058418" y="6238242"/>
            <a:ext cx="1320900" cy="238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r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Clr>
                <a:srgbClr val="5F6673"/>
              </a:buClr>
              <a:buSzPts val="1200"/>
              <a:buFont typeface="IBM Plex Sans"/>
              <a:buNone/>
            </a:pPr>
            <a:r>
              <a:rPr b="0" i="0" lang="en-US" sz="1200" u="none" cap="none" strike="noStrike">
                <a:solidFill>
                  <a:srgbClr val="5F6673"/>
                </a:solidFill>
                <a:latin typeface="IBM Plex Sans"/>
                <a:ea typeface="IBM Plex Sans"/>
                <a:cs typeface="IBM Plex Sans"/>
                <a:sym typeface="IBM Plex Sans"/>
              </a:rPr>
              <a:t>02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5F4EF"/>
        </a:solidFill>
      </p:bgPr>
    </p:bg>
    <p:spTree>
      <p:nvGrpSpPr>
        <p:cNvPr id="66" name="Shape 6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7" name="Google Shape;67;p2"/>
          <p:cNvSpPr/>
          <p:nvPr/>
        </p:nvSpPr>
        <p:spPr>
          <a:xfrm>
            <a:off x="609564" y="442606"/>
            <a:ext cx="3588913" cy="360579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/>
          <a:p>
            <a:pPr indent="0" lvl="0" marL="0" marR="0" rtl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>
                <a:srgbClr val="13233A"/>
              </a:buClr>
              <a:buSzPts val="2400"/>
              <a:buFont typeface="IBM Plex Sans"/>
              <a:buNone/>
            </a:pPr>
            <a:r>
              <a:rPr b="1" i="0" lang="en-US" sz="2400" u="none" cap="none" strike="noStrike">
                <a:solidFill>
                  <a:srgbClr val="13233A"/>
                </a:solidFill>
                <a:latin typeface="IBM Plex Sans"/>
                <a:ea typeface="IBM Plex Sans"/>
                <a:cs typeface="IBM Plex Sans"/>
                <a:sym typeface="IBM Plex Sans"/>
              </a:rPr>
              <a:t>Arquitectura del sistema</a:t>
            </a:r>
            <a:endParaRPr b="0" i="0" sz="2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8" name="Google Shape;68;p2"/>
          <p:cNvSpPr/>
          <p:nvPr/>
        </p:nvSpPr>
        <p:spPr>
          <a:xfrm>
            <a:off x="1003931" y="907959"/>
            <a:ext cx="10184137" cy="5504259"/>
          </a:xfrm>
          <a:prstGeom prst="roundRect">
            <a:avLst>
              <a:gd fmla="val 1788" name="adj"/>
            </a:avLst>
          </a:prstGeom>
          <a:solidFill>
            <a:srgbClr val="FFFFFF"/>
          </a:solidFill>
          <a:ln cap="flat" cmpd="sng" w="9525">
            <a:solidFill>
              <a:srgbClr val="DEDBD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descr="Diagrama C4 de contenedores: personas, los cuatro microservicios con sus bases H2, Kafka, RabbitMQ y Keycloak, con el protocolo de cada relación" id="69" name="Google Shape;69;p2"/>
          <p:cNvPicPr preferRelativeResize="0"/>
          <p:nvPr/>
        </p:nvPicPr>
        <p:blipFill rotWithShape="1">
          <a:blip r:embed="rId3">
            <a:alphaModFix/>
          </a:blip>
          <a:srcRect b="0" l="-12" r="-12" t="0"/>
          <a:stretch/>
        </p:blipFill>
        <p:spPr>
          <a:xfrm>
            <a:off x="1057311" y="961339"/>
            <a:ext cx="10077377" cy="53975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5F4EF"/>
        </a:solidFill>
      </p:bgPr>
    </p:bg>
    <p:spTree>
      <p:nvGrpSpPr>
        <p:cNvPr id="74" name="Shape 7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5" name="Google Shape;75;p3"/>
          <p:cNvSpPr/>
          <p:nvPr/>
        </p:nvSpPr>
        <p:spPr>
          <a:xfrm>
            <a:off x="812782" y="899102"/>
            <a:ext cx="10883400" cy="444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>
                <a:srgbClr val="13233A"/>
              </a:buClr>
              <a:buSzPts val="3000"/>
              <a:buFont typeface="IBM Plex Sans"/>
              <a:buNone/>
            </a:pPr>
            <a:r>
              <a:rPr b="1" i="0" lang="en-US" sz="3000" u="none" cap="none" strike="noStrike">
                <a:solidFill>
                  <a:srgbClr val="13233A"/>
                </a:solidFill>
                <a:latin typeface="IBM Plex Sans"/>
                <a:ea typeface="IBM Plex Sans"/>
                <a:cs typeface="IBM Plex Sans"/>
                <a:sym typeface="IBM Plex Sans"/>
              </a:rPr>
              <a:t>Swagger UI público en los cuatro servicios</a:t>
            </a:r>
            <a:endParaRPr b="0" i="0" sz="300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graphicFrame>
        <p:nvGraphicFramePr>
          <p:cNvPr id="76" name="Google Shape;76;p3"/>
          <p:cNvGraphicFramePr/>
          <p:nvPr/>
        </p:nvGraphicFramePr>
        <p:xfrm>
          <a:off x="824327" y="1532839"/>
          <a:ext cx="3000000" cy="3000000"/>
        </p:xfrm>
        <a:graphic>
          <a:graphicData uri="http://schemas.openxmlformats.org/drawingml/2006/table">
            <a:tbl>
              <a:tblPr>
                <a:noFill/>
                <a:tableStyleId>{836C93BB-8187-4C30-B8EA-31DB8A4A5036}</a:tableStyleId>
              </a:tblPr>
              <a:tblGrid>
                <a:gridCol w="2355050"/>
                <a:gridCol w="1443425"/>
              </a:tblGrid>
              <a:tr h="358100"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4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13233A"/>
                        </a:buClr>
                        <a:buSzPts val="1300"/>
                        <a:buFont typeface="IBM Plex Sans"/>
                        <a:buNone/>
                      </a:pPr>
                      <a:r>
                        <a:rPr b="1" lang="en-US" sz="1300" u="none" cap="none" strike="noStrike">
                          <a:solidFill>
                            <a:srgbClr val="13233A"/>
                          </a:solidFill>
                          <a:latin typeface="IBM Plex Sans"/>
                          <a:ea typeface="IBM Plex Sans"/>
                          <a:cs typeface="IBM Plex Sans"/>
                          <a:sym typeface="IBM Plex Sans"/>
                        </a:rPr>
                        <a:t>Servicio</a:t>
                      </a:r>
                      <a:endParaRPr sz="1300" u="none" cap="none" strike="noStrike">
                        <a:latin typeface="IBM Plex Sans"/>
                        <a:ea typeface="IBM Plex Sans"/>
                        <a:cs typeface="IBM Plex Sans"/>
                        <a:sym typeface="IBM Plex Sans"/>
                      </a:endParaRPr>
                    </a:p>
                  </a:txBody>
                  <a:tcPr marT="57775" marB="57775" marR="57775" marL="57775">
                    <a:lnL cap="flat" cmpd="sng" w="12700">
                      <a:solidFill>
                        <a:srgbClr val="C4C3B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B5B5B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C4C3B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B5B5B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E3E2DD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4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13233A"/>
                        </a:buClr>
                        <a:buSzPts val="1300"/>
                        <a:buFont typeface="IBM Plex Sans"/>
                        <a:buNone/>
                      </a:pPr>
                      <a:r>
                        <a:rPr b="1" lang="en-US" sz="1300" u="none" cap="none" strike="noStrike">
                          <a:solidFill>
                            <a:srgbClr val="13233A"/>
                          </a:solidFill>
                          <a:latin typeface="IBM Plex Sans"/>
                          <a:ea typeface="IBM Plex Sans"/>
                          <a:cs typeface="IBM Plex Sans"/>
                          <a:sym typeface="IBM Plex Sans"/>
                        </a:rPr>
                        <a:t>Puerto</a:t>
                      </a:r>
                      <a:endParaRPr sz="1300" u="none" cap="none" strike="noStrike">
                        <a:latin typeface="IBM Plex Sans"/>
                        <a:ea typeface="IBM Plex Sans"/>
                        <a:cs typeface="IBM Plex Sans"/>
                        <a:sym typeface="IBM Plex Sans"/>
                      </a:endParaRPr>
                    </a:p>
                  </a:txBody>
                  <a:tcPr marT="57775" marB="57775" marR="57775" marL="57775">
                    <a:lnL cap="flat" cmpd="sng" w="12700">
                      <a:solidFill>
                        <a:srgbClr val="B5B5B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B5B5B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C4C3B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B5B5B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E3E2DD"/>
                    </a:solidFill>
                  </a:tcPr>
                </a:tc>
              </a:tr>
              <a:tr h="358100"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4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13233A"/>
                        </a:buClr>
                        <a:buSzPts val="1300"/>
                        <a:buFont typeface="IBM Plex Sans"/>
                        <a:buNone/>
                      </a:pPr>
                      <a:r>
                        <a:rPr lang="en-US" sz="1300" u="none" cap="none" strike="noStrike">
                          <a:solidFill>
                            <a:srgbClr val="13233A"/>
                          </a:solidFill>
                          <a:latin typeface="IBM Plex Sans"/>
                          <a:ea typeface="IBM Plex Sans"/>
                          <a:cs typeface="IBM Plex Sans"/>
                          <a:sym typeface="IBM Plex Sans"/>
                        </a:rPr>
                        <a:t>ms-membresias</a:t>
                      </a:r>
                      <a:endParaRPr sz="1300" u="none" cap="none" strike="noStrike">
                        <a:latin typeface="IBM Plex Sans"/>
                        <a:ea typeface="IBM Plex Sans"/>
                        <a:cs typeface="IBM Plex Sans"/>
                        <a:sym typeface="IBM Plex Sans"/>
                      </a:endParaRPr>
                    </a:p>
                  </a:txBody>
                  <a:tcPr marT="57775" marB="57775" marR="57775" marL="57775">
                    <a:lnL cap="flat" cmpd="sng" w="12700">
                      <a:solidFill>
                        <a:srgbClr val="C4C3B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C4C3B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B5B5B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C4C3B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4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13233A"/>
                        </a:buClr>
                        <a:buSzPts val="1300"/>
                        <a:buFont typeface="IBM Plex Sans"/>
                        <a:buNone/>
                      </a:pPr>
                      <a:r>
                        <a:rPr lang="en-US" sz="1300" u="none" cap="none" strike="noStrike">
                          <a:solidFill>
                            <a:srgbClr val="13233A"/>
                          </a:solidFill>
                          <a:latin typeface="IBM Plex Sans"/>
                          <a:ea typeface="IBM Plex Sans"/>
                          <a:cs typeface="IBM Plex Sans"/>
                          <a:sym typeface="IBM Plex Sans"/>
                        </a:rPr>
                        <a:t>8081</a:t>
                      </a:r>
                      <a:endParaRPr sz="1300" u="none" cap="none" strike="noStrike">
                        <a:latin typeface="IBM Plex Sans"/>
                        <a:ea typeface="IBM Plex Sans"/>
                        <a:cs typeface="IBM Plex Sans"/>
                        <a:sym typeface="IBM Plex Sans"/>
                      </a:endParaRPr>
                    </a:p>
                  </a:txBody>
                  <a:tcPr marT="57775" marB="57775" marR="57775" marL="57775">
                    <a:lnL cap="flat" cmpd="sng" w="12700">
                      <a:solidFill>
                        <a:srgbClr val="C4C3B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C4C3B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B5B5B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C4C3B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358100"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4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13233A"/>
                        </a:buClr>
                        <a:buSzPts val="1300"/>
                        <a:buFont typeface="IBM Plex Sans"/>
                        <a:buNone/>
                      </a:pPr>
                      <a:r>
                        <a:rPr lang="en-US" sz="1300" u="none" cap="none" strike="noStrike">
                          <a:solidFill>
                            <a:srgbClr val="13233A"/>
                          </a:solidFill>
                          <a:latin typeface="IBM Plex Sans"/>
                          <a:ea typeface="IBM Plex Sans"/>
                          <a:cs typeface="IBM Plex Sans"/>
                          <a:sym typeface="IBM Plex Sans"/>
                        </a:rPr>
                        <a:t>ms-programacion</a:t>
                      </a:r>
                      <a:endParaRPr sz="1300" u="none" cap="none" strike="noStrike">
                        <a:latin typeface="IBM Plex Sans"/>
                        <a:ea typeface="IBM Plex Sans"/>
                        <a:cs typeface="IBM Plex Sans"/>
                        <a:sym typeface="IBM Plex Sans"/>
                      </a:endParaRPr>
                    </a:p>
                  </a:txBody>
                  <a:tcPr marT="57775" marB="57775" marR="57775" marL="57775">
                    <a:lnL cap="flat" cmpd="sng" w="12700">
                      <a:solidFill>
                        <a:srgbClr val="C4C3B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C4C3B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C4C3B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C4C3B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4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13233A"/>
                        </a:buClr>
                        <a:buSzPts val="1300"/>
                        <a:buFont typeface="IBM Plex Sans"/>
                        <a:buNone/>
                      </a:pPr>
                      <a:r>
                        <a:rPr lang="en-US" sz="1300" u="none" cap="none" strike="noStrike">
                          <a:solidFill>
                            <a:srgbClr val="13233A"/>
                          </a:solidFill>
                          <a:latin typeface="IBM Plex Sans"/>
                          <a:ea typeface="IBM Plex Sans"/>
                          <a:cs typeface="IBM Plex Sans"/>
                          <a:sym typeface="IBM Plex Sans"/>
                        </a:rPr>
                        <a:t>8082</a:t>
                      </a:r>
                      <a:endParaRPr sz="1300" u="none" cap="none" strike="noStrike">
                        <a:latin typeface="IBM Plex Sans"/>
                        <a:ea typeface="IBM Plex Sans"/>
                        <a:cs typeface="IBM Plex Sans"/>
                        <a:sym typeface="IBM Plex Sans"/>
                      </a:endParaRPr>
                    </a:p>
                  </a:txBody>
                  <a:tcPr marT="57775" marB="57775" marR="57775" marL="57775">
                    <a:lnL cap="flat" cmpd="sng" w="12700">
                      <a:solidFill>
                        <a:srgbClr val="C4C3B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C4C3B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C4C3B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C4C3B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358100"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4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13233A"/>
                        </a:buClr>
                        <a:buSzPts val="1300"/>
                        <a:buFont typeface="IBM Plex Sans"/>
                        <a:buNone/>
                      </a:pPr>
                      <a:r>
                        <a:rPr lang="en-US" sz="1300" u="none" cap="none" strike="noStrike">
                          <a:solidFill>
                            <a:srgbClr val="13233A"/>
                          </a:solidFill>
                          <a:latin typeface="IBM Plex Sans"/>
                          <a:ea typeface="IBM Plex Sans"/>
                          <a:cs typeface="IBM Plex Sans"/>
                          <a:sym typeface="IBM Plex Sans"/>
                        </a:rPr>
                        <a:t>ms-personal</a:t>
                      </a:r>
                      <a:endParaRPr sz="1300" u="none" cap="none" strike="noStrike">
                        <a:latin typeface="IBM Plex Sans"/>
                        <a:ea typeface="IBM Plex Sans"/>
                        <a:cs typeface="IBM Plex Sans"/>
                        <a:sym typeface="IBM Plex Sans"/>
                      </a:endParaRPr>
                    </a:p>
                  </a:txBody>
                  <a:tcPr marT="57775" marB="57775" marR="57775" marL="57775">
                    <a:lnL cap="flat" cmpd="sng" w="12700">
                      <a:solidFill>
                        <a:srgbClr val="C4C3B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C4C3B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C4C3B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C4C3B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4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13233A"/>
                        </a:buClr>
                        <a:buSzPts val="1300"/>
                        <a:buFont typeface="IBM Plex Sans"/>
                        <a:buNone/>
                      </a:pPr>
                      <a:r>
                        <a:rPr lang="en-US" sz="1300" u="none" cap="none" strike="noStrike">
                          <a:solidFill>
                            <a:srgbClr val="13233A"/>
                          </a:solidFill>
                          <a:latin typeface="IBM Plex Sans"/>
                          <a:ea typeface="IBM Plex Sans"/>
                          <a:cs typeface="IBM Plex Sans"/>
                          <a:sym typeface="IBM Plex Sans"/>
                        </a:rPr>
                        <a:t>8083</a:t>
                      </a:r>
                      <a:endParaRPr sz="1300" u="none" cap="none" strike="noStrike">
                        <a:latin typeface="IBM Plex Sans"/>
                        <a:ea typeface="IBM Plex Sans"/>
                        <a:cs typeface="IBM Plex Sans"/>
                        <a:sym typeface="IBM Plex Sans"/>
                      </a:endParaRPr>
                    </a:p>
                  </a:txBody>
                  <a:tcPr marT="57775" marB="57775" marR="57775" marL="57775">
                    <a:lnL cap="flat" cmpd="sng" w="12700">
                      <a:solidFill>
                        <a:srgbClr val="C4C3B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C4C3B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C4C3B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C4C3B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358100"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4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13233A"/>
                        </a:buClr>
                        <a:buSzPts val="1300"/>
                        <a:buFont typeface="IBM Plex Sans"/>
                        <a:buNone/>
                      </a:pPr>
                      <a:r>
                        <a:rPr lang="en-US" sz="1300" u="none" cap="none" strike="noStrike">
                          <a:solidFill>
                            <a:srgbClr val="13233A"/>
                          </a:solidFill>
                          <a:latin typeface="IBM Plex Sans"/>
                          <a:ea typeface="IBM Plex Sans"/>
                          <a:cs typeface="IBM Plex Sans"/>
                          <a:sym typeface="IBM Plex Sans"/>
                        </a:rPr>
                        <a:t>ms-inventario</a:t>
                      </a:r>
                      <a:endParaRPr sz="1300" u="none" cap="none" strike="noStrike">
                        <a:latin typeface="IBM Plex Sans"/>
                        <a:ea typeface="IBM Plex Sans"/>
                        <a:cs typeface="IBM Plex Sans"/>
                        <a:sym typeface="IBM Plex Sans"/>
                      </a:endParaRPr>
                    </a:p>
                  </a:txBody>
                  <a:tcPr marT="57775" marB="57775" marR="57775" marL="57775">
                    <a:lnL cap="flat" cmpd="sng" w="12700">
                      <a:solidFill>
                        <a:srgbClr val="C4C3B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C4C3B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C4C3B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C4C3B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4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13233A"/>
                        </a:buClr>
                        <a:buSzPts val="1300"/>
                        <a:buFont typeface="IBM Plex Sans"/>
                        <a:buNone/>
                      </a:pPr>
                      <a:r>
                        <a:rPr lang="en-US" sz="1300" u="none" cap="none" strike="noStrike">
                          <a:solidFill>
                            <a:srgbClr val="13233A"/>
                          </a:solidFill>
                          <a:latin typeface="IBM Plex Sans"/>
                          <a:ea typeface="IBM Plex Sans"/>
                          <a:cs typeface="IBM Plex Sans"/>
                          <a:sym typeface="IBM Plex Sans"/>
                        </a:rPr>
                        <a:t>8084</a:t>
                      </a:r>
                      <a:endParaRPr sz="1300" u="none" cap="none" strike="noStrike">
                        <a:latin typeface="IBM Plex Sans"/>
                        <a:ea typeface="IBM Plex Sans"/>
                        <a:cs typeface="IBM Plex Sans"/>
                        <a:sym typeface="IBM Plex Sans"/>
                      </a:endParaRPr>
                    </a:p>
                  </a:txBody>
                  <a:tcPr marT="57775" marB="57775" marR="57775" marL="57775">
                    <a:lnL cap="flat" cmpd="sng" w="12700">
                      <a:solidFill>
                        <a:srgbClr val="C4C3B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C4C3B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C4C3B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C4C3B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</a:tbl>
          </a:graphicData>
        </a:graphic>
      </p:graphicFrame>
      <p:sp>
        <p:nvSpPr>
          <p:cNvPr id="77" name="Google Shape;77;p3"/>
          <p:cNvSpPr/>
          <p:nvPr/>
        </p:nvSpPr>
        <p:spPr>
          <a:xfrm>
            <a:off x="812782" y="3501067"/>
            <a:ext cx="3810000" cy="782400"/>
          </a:xfrm>
          <a:prstGeom prst="roundRect">
            <a:avLst>
              <a:gd fmla="val 12987" name="adj"/>
            </a:avLst>
          </a:prstGeom>
          <a:solidFill>
            <a:srgbClr val="13233A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78" name="Google Shape;78;p3"/>
          <p:cNvSpPr/>
          <p:nvPr/>
        </p:nvSpPr>
        <p:spPr>
          <a:xfrm>
            <a:off x="990564" y="3653414"/>
            <a:ext cx="3558000" cy="238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Clr>
                <a:srgbClr val="E4E9EF"/>
              </a:buClr>
              <a:buSzPts val="1200"/>
              <a:buFont typeface="JetBrains Mono"/>
              <a:buNone/>
            </a:pPr>
            <a:r>
              <a:rPr b="0" i="0" lang="en-US" sz="1200" u="none" cap="none" strike="noStrike">
                <a:solidFill>
                  <a:srgbClr val="E4E9EF"/>
                </a:solidFill>
                <a:latin typeface="JetBrains Mono"/>
                <a:ea typeface="JetBrains Mono"/>
                <a:cs typeface="JetBrains Mono"/>
                <a:sym typeface="JetBrains Mono"/>
              </a:rPr>
              <a:t>/swagger-ui/index.html</a:t>
            </a:r>
            <a:endParaRPr b="0" i="0" sz="120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9" name="Google Shape;79;p3"/>
          <p:cNvSpPr/>
          <p:nvPr/>
        </p:nvSpPr>
        <p:spPr>
          <a:xfrm>
            <a:off x="990564" y="3917606"/>
            <a:ext cx="3558000" cy="238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Clr>
                <a:srgbClr val="E4E9EF"/>
              </a:buClr>
              <a:buSzPts val="1200"/>
              <a:buFont typeface="JetBrains Mono"/>
              <a:buNone/>
            </a:pPr>
            <a:r>
              <a:rPr b="0" i="0" lang="en-US" sz="1200" u="none" cap="none" strike="noStrike">
                <a:solidFill>
                  <a:srgbClr val="E4E9EF"/>
                </a:solidFill>
                <a:latin typeface="JetBrains Mono"/>
                <a:ea typeface="JetBrains Mono"/>
                <a:cs typeface="JetBrains Mono"/>
                <a:sym typeface="JetBrains Mono"/>
              </a:rPr>
              <a:t>/v3/api-docs</a:t>
            </a:r>
            <a:endParaRPr b="0" i="0" sz="120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0" name="Google Shape;80;p3"/>
          <p:cNvSpPr/>
          <p:nvPr/>
        </p:nvSpPr>
        <p:spPr>
          <a:xfrm>
            <a:off x="812782" y="4461145"/>
            <a:ext cx="3924300" cy="771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Clr>
                <a:srgbClr val="4A5363"/>
              </a:buClr>
              <a:buSzPts val="1400"/>
              <a:buFont typeface="IBM Plex Sans"/>
              <a:buNone/>
            </a:pPr>
            <a:r>
              <a:rPr b="0" i="0" lang="en-US" sz="1400" u="none" cap="none" strike="noStrike">
                <a:solidFill>
                  <a:srgbClr val="4A5363"/>
                </a:solidFill>
                <a:latin typeface="IBM Plex Sans"/>
                <a:ea typeface="IBM Plex Sans"/>
                <a:cs typeface="IBM Plex Sans"/>
                <a:sym typeface="IBM Plex Sans"/>
              </a:rPr>
              <a:t>Cada operación documenta resumen, descripción, parámetros y respuestas con @Tag, @Operation y @Parameter.</a:t>
            </a:r>
            <a:endParaRPr b="0" i="0" sz="140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1" name="Google Shape;81;p3"/>
          <p:cNvSpPr/>
          <p:nvPr/>
        </p:nvSpPr>
        <p:spPr>
          <a:xfrm>
            <a:off x="4879957" y="1524468"/>
            <a:ext cx="6496200" cy="4145400"/>
          </a:xfrm>
          <a:prstGeom prst="roundRect">
            <a:avLst>
              <a:gd fmla="val 2374" name="adj"/>
            </a:avLst>
          </a:prstGeom>
          <a:solidFill>
            <a:srgbClr val="FFFFFF"/>
          </a:solidFill>
          <a:ln cap="flat" cmpd="sng" w="9525">
            <a:solidFill>
              <a:srgbClr val="DEDBD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descr="Captura de Swagger UI de ms-programacion en el puerto 8082 con el endpoint POST /api/admin/kafka/ocupacion-clases/reiniciar documentado" id="82" name="Google Shape;82;p3"/>
          <p:cNvPicPr preferRelativeResize="0"/>
          <p:nvPr/>
        </p:nvPicPr>
        <p:blipFill rotWithShape="1">
          <a:blip r:embed="rId3">
            <a:alphaModFix/>
          </a:blip>
          <a:srcRect b="-383" l="0" r="0" t="-393"/>
          <a:stretch/>
        </p:blipFill>
        <p:spPr>
          <a:xfrm>
            <a:off x="4984750" y="1628629"/>
            <a:ext cx="6286501" cy="39370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5F4EF"/>
        </a:solidFill>
      </p:bgPr>
    </p:bg>
    <p:spTree>
      <p:nvGrpSpPr>
        <p:cNvPr id="87" name="Shape 8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8" name="Google Shape;88;p4"/>
          <p:cNvSpPr/>
          <p:nvPr/>
        </p:nvSpPr>
        <p:spPr>
          <a:xfrm>
            <a:off x="812782" y="609563"/>
            <a:ext cx="10883429" cy="23881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/>
          <a:p>
            <a:pPr indent="0" lvl="0" marL="0" marR="0" rtl="0" algn="l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Clr>
                <a:srgbClr val="2F5FA7"/>
              </a:buClr>
              <a:buSzPts val="1200"/>
              <a:buFont typeface="JetBrains Mono"/>
              <a:buNone/>
            </a:pPr>
            <a:r>
              <a:rPr b="0" i="0" lang="en-US" sz="1200" u="none" cap="none" strike="noStrike">
                <a:solidFill>
                  <a:srgbClr val="2F5FA7"/>
                </a:solidFill>
                <a:latin typeface="JetBrains Mono"/>
                <a:ea typeface="JetBrains Mono"/>
                <a:cs typeface="JetBrains Mono"/>
                <a:sym typeface="JetBrains Mono"/>
              </a:rPr>
              <a:t>SEGURIDAD · KEYCLOAK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9" name="Google Shape;89;p4"/>
          <p:cNvSpPr/>
          <p:nvPr/>
        </p:nvSpPr>
        <p:spPr>
          <a:xfrm>
            <a:off x="812782" y="899102"/>
            <a:ext cx="10883429" cy="444464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/>
          <a:p>
            <a:pPr indent="0" lvl="0" marL="0" marR="0" rtl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>
                <a:srgbClr val="13233A"/>
              </a:buClr>
              <a:buSzPts val="3000"/>
              <a:buFont typeface="IBM Plex Sans"/>
              <a:buNone/>
            </a:pPr>
            <a:r>
              <a:rPr b="1" i="0" lang="en-US" sz="3000" u="none" cap="none" strike="noStrike">
                <a:solidFill>
                  <a:srgbClr val="13233A"/>
                </a:solidFill>
                <a:latin typeface="IBM Plex Sans"/>
                <a:ea typeface="IBM Plex Sans"/>
                <a:cs typeface="IBM Plex Sans"/>
                <a:sym typeface="IBM Plex Sans"/>
              </a:rPr>
              <a:t>El realm gimnasio vive en el repositorio</a:t>
            </a:r>
            <a:endParaRPr b="0" i="0" sz="3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0" name="Google Shape;90;p4"/>
          <p:cNvSpPr/>
          <p:nvPr/>
        </p:nvSpPr>
        <p:spPr>
          <a:xfrm>
            <a:off x="815957" y="1575341"/>
            <a:ext cx="3414171" cy="2342068"/>
          </a:xfrm>
          <a:prstGeom prst="roundRect">
            <a:avLst>
              <a:gd fmla="val 4202" name="adj"/>
            </a:avLst>
          </a:prstGeom>
          <a:solidFill>
            <a:srgbClr val="FCFCFA"/>
          </a:solidFill>
          <a:ln cap="flat" cmpd="sng" w="9525">
            <a:solidFill>
              <a:srgbClr val="DEDBD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91" name="Google Shape;91;p4"/>
          <p:cNvSpPr/>
          <p:nvPr/>
        </p:nvSpPr>
        <p:spPr>
          <a:xfrm>
            <a:off x="1072555" y="1806502"/>
            <a:ext cx="2988005" cy="29960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/>
          <a:p>
            <a:pPr indent="0" lvl="0" marL="0" marR="0" rtl="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rgbClr val="13233A"/>
              </a:buClr>
              <a:buSzPts val="1800"/>
              <a:buFont typeface="IBM Plex Sans"/>
              <a:buNone/>
            </a:pPr>
            <a:r>
              <a:rPr b="1" i="0" lang="en-US" sz="1800" u="none" cap="none" strike="noStrike">
                <a:solidFill>
                  <a:srgbClr val="13233A"/>
                </a:solidFill>
                <a:latin typeface="IBM Plex Sans"/>
                <a:ea typeface="IBM Plex Sans"/>
                <a:cs typeface="IBM Plex Sans"/>
                <a:sym typeface="IBM Plex Sans"/>
              </a:rPr>
              <a:t>4 clientes confidenciales</a:t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2" name="Google Shape;92;p4"/>
          <p:cNvSpPr/>
          <p:nvPr/>
        </p:nvSpPr>
        <p:spPr>
          <a:xfrm>
            <a:off x="1072555" y="2182270"/>
            <a:ext cx="2988005" cy="1000991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/>
          <a:p>
            <a:pPr indent="0" lvl="0" marL="0" marR="0" rtl="0" algn="l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Clr>
                <a:srgbClr val="13233A"/>
              </a:buClr>
              <a:buSzPts val="1200"/>
              <a:buFont typeface="JetBrains Mono"/>
              <a:buNone/>
            </a:pPr>
            <a:r>
              <a:rPr b="0" i="0" lang="en-US" sz="1200" u="none" cap="none" strike="noStrike">
                <a:solidFill>
                  <a:srgbClr val="13233A"/>
                </a:solidFill>
                <a:latin typeface="JetBrains Mono"/>
                <a:ea typeface="JetBrains Mono"/>
                <a:cs typeface="JetBrains Mono"/>
                <a:sym typeface="JetBrains Mono"/>
              </a:rPr>
              <a:t>membresias-service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Clr>
                <a:srgbClr val="13233A"/>
              </a:buClr>
              <a:buSzPts val="1200"/>
              <a:buFont typeface="JetBrains Mono"/>
              <a:buNone/>
            </a:pPr>
            <a:r>
              <a:rPr b="0" i="0" lang="en-US" sz="1200" u="none" cap="none" strike="noStrike">
                <a:solidFill>
                  <a:srgbClr val="13233A"/>
                </a:solidFill>
                <a:latin typeface="JetBrains Mono"/>
                <a:ea typeface="JetBrains Mono"/>
                <a:cs typeface="JetBrains Mono"/>
                <a:sym typeface="JetBrains Mono"/>
              </a:rPr>
              <a:t>programacion-service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Clr>
                <a:srgbClr val="13233A"/>
              </a:buClr>
              <a:buSzPts val="1200"/>
              <a:buFont typeface="JetBrains Mono"/>
              <a:buNone/>
            </a:pPr>
            <a:r>
              <a:rPr b="0" i="0" lang="en-US" sz="1200" u="none" cap="none" strike="noStrike">
                <a:solidFill>
                  <a:srgbClr val="13233A"/>
                </a:solidFill>
                <a:latin typeface="JetBrains Mono"/>
                <a:ea typeface="JetBrains Mono"/>
                <a:cs typeface="JetBrains Mono"/>
                <a:sym typeface="JetBrains Mono"/>
              </a:rPr>
              <a:t>personal-service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Clr>
                <a:srgbClr val="13233A"/>
              </a:buClr>
              <a:buSzPts val="1200"/>
              <a:buFont typeface="JetBrains Mono"/>
              <a:buNone/>
            </a:pPr>
            <a:r>
              <a:rPr b="0" i="0" lang="en-US" sz="1200" u="none" cap="none" strike="noStrike">
                <a:solidFill>
                  <a:srgbClr val="13233A"/>
                </a:solidFill>
                <a:latin typeface="JetBrains Mono"/>
                <a:ea typeface="JetBrains Mono"/>
                <a:cs typeface="JetBrains Mono"/>
                <a:sym typeface="JetBrains Mono"/>
              </a:rPr>
              <a:t>inventario-service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3" name="Google Shape;93;p4"/>
          <p:cNvSpPr/>
          <p:nvPr/>
        </p:nvSpPr>
        <p:spPr>
          <a:xfrm>
            <a:off x="1072555" y="3259426"/>
            <a:ext cx="2988005" cy="452221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/>
          <a:p>
            <a:pPr indent="0" lvl="0" marL="0" marR="0" rtl="0" algn="l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Clr>
                <a:srgbClr val="4A5363"/>
              </a:buClr>
              <a:buSzPts val="1200"/>
              <a:buFont typeface="IBM Plex Sans"/>
              <a:buNone/>
            </a:pPr>
            <a:r>
              <a:rPr b="0" i="0" lang="en-US" sz="1200" u="none" cap="none" strike="noStrike">
                <a:solidFill>
                  <a:srgbClr val="4A5363"/>
                </a:solidFill>
                <a:latin typeface="IBM Plex Sans"/>
                <a:ea typeface="IBM Plex Sans"/>
                <a:cs typeface="IBM Plex Sans"/>
                <a:sym typeface="IBM Plex Sans"/>
              </a:rPr>
              <a:t>client-secret · Direct Access Grants · Service Accounts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4" name="Google Shape;94;p4"/>
          <p:cNvSpPr/>
          <p:nvPr/>
        </p:nvSpPr>
        <p:spPr>
          <a:xfrm>
            <a:off x="4388824" y="1575341"/>
            <a:ext cx="3414261" cy="2342068"/>
          </a:xfrm>
          <a:prstGeom prst="roundRect">
            <a:avLst>
              <a:gd fmla="val 4202" name="adj"/>
            </a:avLst>
          </a:prstGeom>
          <a:solidFill>
            <a:srgbClr val="FCFCFA"/>
          </a:solidFill>
          <a:ln cap="flat" cmpd="sng" w="9525">
            <a:solidFill>
              <a:srgbClr val="DEDBD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95" name="Google Shape;95;p4"/>
          <p:cNvSpPr/>
          <p:nvPr/>
        </p:nvSpPr>
        <p:spPr>
          <a:xfrm>
            <a:off x="4645422" y="1806502"/>
            <a:ext cx="2988098" cy="29960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/>
          <a:p>
            <a:pPr indent="0" lvl="0" marL="0" marR="0" rtl="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rgbClr val="13233A"/>
              </a:buClr>
              <a:buSzPts val="1800"/>
              <a:buFont typeface="IBM Plex Sans"/>
              <a:buNone/>
            </a:pPr>
            <a:r>
              <a:rPr b="1" i="0" lang="en-US" sz="1800" u="none" cap="none" strike="noStrike">
                <a:solidFill>
                  <a:srgbClr val="13233A"/>
                </a:solidFill>
                <a:latin typeface="IBM Plex Sans"/>
                <a:ea typeface="IBM Plex Sans"/>
                <a:cs typeface="IBM Plex Sans"/>
                <a:sym typeface="IBM Plex Sans"/>
              </a:rPr>
              <a:t>3 roles de realm</a:t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6" name="Google Shape;96;p4"/>
          <p:cNvSpPr/>
          <p:nvPr/>
        </p:nvSpPr>
        <p:spPr>
          <a:xfrm>
            <a:off x="4645422" y="2182270"/>
            <a:ext cx="2988098" cy="23881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/>
          <a:p>
            <a:pPr indent="0" lvl="0" marL="0" marR="0" rtl="0" algn="l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Clr>
                <a:srgbClr val="2F5FA7"/>
              </a:buClr>
              <a:buSzPts val="1200"/>
              <a:buFont typeface="JetBrains Mono"/>
              <a:buNone/>
            </a:pPr>
            <a:r>
              <a:rPr b="0" i="0" lang="en-US" sz="1200" u="none" cap="none" strike="noStrike">
                <a:solidFill>
                  <a:srgbClr val="2F5FA7"/>
                </a:solidFill>
                <a:latin typeface="JetBrains Mono"/>
                <a:ea typeface="JetBrains Mono"/>
                <a:cs typeface="JetBrains Mono"/>
                <a:sym typeface="JetBrains Mono"/>
              </a:rPr>
              <a:t>ROLE_ADMIN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7" name="Google Shape;97;p4"/>
          <p:cNvSpPr/>
          <p:nvPr/>
        </p:nvSpPr>
        <p:spPr>
          <a:xfrm>
            <a:off x="4645422" y="2408309"/>
            <a:ext cx="2988098" cy="23881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/>
          <a:p>
            <a:pPr indent="0" lvl="0" marL="0" marR="0" rtl="0" algn="l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Clr>
                <a:srgbClr val="4A5363"/>
              </a:buClr>
              <a:buSzPts val="1200"/>
              <a:buFont typeface="IBM Plex Sans"/>
              <a:buNone/>
            </a:pPr>
            <a:r>
              <a:rPr b="0" i="0" lang="en-US" sz="1200" u="none" cap="none" strike="noStrike">
                <a:solidFill>
                  <a:srgbClr val="4A5363"/>
                </a:solidFill>
                <a:latin typeface="IBM Plex Sans"/>
                <a:ea typeface="IBM Plex Sans"/>
                <a:cs typeface="IBM Plex Sans"/>
                <a:sym typeface="IBM Plex Sans"/>
              </a:rPr>
              <a:t>Administrador del gimnasio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8" name="Google Shape;98;p4"/>
          <p:cNvSpPr/>
          <p:nvPr/>
        </p:nvSpPr>
        <p:spPr>
          <a:xfrm>
            <a:off x="4645422" y="2710565"/>
            <a:ext cx="2988098" cy="23881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/>
          <a:p>
            <a:pPr indent="0" lvl="0" marL="0" marR="0" rtl="0" algn="l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Clr>
                <a:srgbClr val="2F5FA7"/>
              </a:buClr>
              <a:buSzPts val="1200"/>
              <a:buFont typeface="JetBrains Mono"/>
              <a:buNone/>
            </a:pPr>
            <a:r>
              <a:rPr b="0" i="0" lang="en-US" sz="1200" u="none" cap="none" strike="noStrike">
                <a:solidFill>
                  <a:srgbClr val="2F5FA7"/>
                </a:solidFill>
                <a:latin typeface="JetBrains Mono"/>
                <a:ea typeface="JetBrains Mono"/>
                <a:cs typeface="JetBrains Mono"/>
                <a:sym typeface="JetBrains Mono"/>
              </a:rPr>
              <a:t>ROLE_TRAINER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9" name="Google Shape;99;p4"/>
          <p:cNvSpPr/>
          <p:nvPr/>
        </p:nvSpPr>
        <p:spPr>
          <a:xfrm>
            <a:off x="4645422" y="2936604"/>
            <a:ext cx="2988098" cy="23881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/>
          <a:p>
            <a:pPr indent="0" lvl="0" marL="0" marR="0" rtl="0" algn="l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Clr>
                <a:srgbClr val="4A5363"/>
              </a:buClr>
              <a:buSzPts val="1200"/>
              <a:buFont typeface="IBM Plex Sans"/>
              <a:buNone/>
            </a:pPr>
            <a:r>
              <a:rPr b="0" i="0" lang="en-US" sz="1200" u="none" cap="none" strike="noStrike">
                <a:solidFill>
                  <a:srgbClr val="4A5363"/>
                </a:solidFill>
                <a:latin typeface="IBM Plex Sans"/>
                <a:ea typeface="IBM Plex Sans"/>
                <a:cs typeface="IBM Plex Sans"/>
                <a:sym typeface="IBM Plex Sans"/>
              </a:rPr>
              <a:t>Entrenador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0" name="Google Shape;100;p4"/>
          <p:cNvSpPr/>
          <p:nvPr/>
        </p:nvSpPr>
        <p:spPr>
          <a:xfrm>
            <a:off x="4645422" y="3238860"/>
            <a:ext cx="2988098" cy="23881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/>
          <a:p>
            <a:pPr indent="0" lvl="0" marL="0" marR="0" rtl="0" algn="l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Clr>
                <a:srgbClr val="2F5FA7"/>
              </a:buClr>
              <a:buSzPts val="1200"/>
              <a:buFont typeface="JetBrains Mono"/>
              <a:buNone/>
            </a:pPr>
            <a:r>
              <a:rPr b="0" i="0" lang="en-US" sz="1200" u="none" cap="none" strike="noStrike">
                <a:solidFill>
                  <a:srgbClr val="2F5FA7"/>
                </a:solidFill>
                <a:latin typeface="JetBrains Mono"/>
                <a:ea typeface="JetBrains Mono"/>
                <a:cs typeface="JetBrains Mono"/>
                <a:sym typeface="JetBrains Mono"/>
              </a:rPr>
              <a:t>ROLE_MEMBER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1" name="Google Shape;101;p4"/>
          <p:cNvSpPr/>
          <p:nvPr/>
        </p:nvSpPr>
        <p:spPr>
          <a:xfrm>
            <a:off x="4645422" y="3464899"/>
            <a:ext cx="2988098" cy="23881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/>
          <a:p>
            <a:pPr indent="0" lvl="0" marL="0" marR="0" rtl="0" algn="l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Clr>
                <a:srgbClr val="4A5363"/>
              </a:buClr>
              <a:buSzPts val="1200"/>
              <a:buFont typeface="IBM Plex Sans"/>
              <a:buNone/>
            </a:pPr>
            <a:r>
              <a:rPr b="0" i="0" lang="en-US" sz="1200" u="none" cap="none" strike="noStrike">
                <a:solidFill>
                  <a:srgbClr val="4A5363"/>
                </a:solidFill>
                <a:latin typeface="IBM Plex Sans"/>
                <a:ea typeface="IBM Plex Sans"/>
                <a:cs typeface="IBM Plex Sans"/>
                <a:sym typeface="IBM Plex Sans"/>
              </a:rPr>
              <a:t>Miembro del gimnasio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2" name="Google Shape;102;p4"/>
          <p:cNvSpPr/>
          <p:nvPr/>
        </p:nvSpPr>
        <p:spPr>
          <a:xfrm>
            <a:off x="7961781" y="1575341"/>
            <a:ext cx="3414261" cy="2342068"/>
          </a:xfrm>
          <a:prstGeom prst="roundRect">
            <a:avLst>
              <a:gd fmla="val 4202" name="adj"/>
            </a:avLst>
          </a:prstGeom>
          <a:solidFill>
            <a:srgbClr val="FCFCFA"/>
          </a:solidFill>
          <a:ln cap="flat" cmpd="sng" w="9525">
            <a:solidFill>
              <a:srgbClr val="DEDBD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03" name="Google Shape;103;p4"/>
          <p:cNvSpPr/>
          <p:nvPr/>
        </p:nvSpPr>
        <p:spPr>
          <a:xfrm>
            <a:off x="8218379" y="1806502"/>
            <a:ext cx="2988098" cy="29960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/>
          <a:p>
            <a:pPr indent="0" lvl="0" marL="0" marR="0" rtl="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rgbClr val="13233A"/>
              </a:buClr>
              <a:buSzPts val="1800"/>
              <a:buFont typeface="IBM Plex Sans"/>
              <a:buNone/>
            </a:pPr>
            <a:r>
              <a:rPr b="1" i="0" lang="en-US" sz="1800" u="none" cap="none" strike="noStrike">
                <a:solidFill>
                  <a:srgbClr val="13233A"/>
                </a:solidFill>
                <a:latin typeface="IBM Plex Sans"/>
                <a:ea typeface="IBM Plex Sans"/>
                <a:cs typeface="IBM Plex Sans"/>
                <a:sym typeface="IBM Plex Sans"/>
              </a:rPr>
              <a:t>3 usuarios de prueba</a:t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4" name="Google Shape;104;p4"/>
          <p:cNvSpPr/>
          <p:nvPr/>
        </p:nvSpPr>
        <p:spPr>
          <a:xfrm>
            <a:off x="8218379" y="2182270"/>
            <a:ext cx="2988098" cy="894286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/>
          <a:p>
            <a:pPr indent="0" lvl="0" marL="0" marR="0" rtl="0" algn="l">
              <a:lnSpc>
                <a:spcPct val="190000"/>
              </a:lnSpc>
              <a:spcBef>
                <a:spcPts val="0"/>
              </a:spcBef>
              <a:spcAft>
                <a:spcPts val="0"/>
              </a:spcAft>
              <a:buClr>
                <a:srgbClr val="13233A"/>
              </a:buClr>
              <a:buSzPts val="1200"/>
              <a:buFont typeface="JetBrains Mono"/>
              <a:buNone/>
            </a:pPr>
            <a:r>
              <a:rPr b="0" i="0" lang="en-US" sz="1200" u="none" cap="none" strike="noStrike">
                <a:solidFill>
                  <a:srgbClr val="13233A"/>
                </a:solidFill>
                <a:latin typeface="JetBrains Mono"/>
                <a:ea typeface="JetBrains Mono"/>
                <a:cs typeface="JetBrains Mono"/>
                <a:sym typeface="JetBrains Mono"/>
              </a:rPr>
              <a:t>admin1 → ROLE_ADMIN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lnSpc>
                <a:spcPct val="190000"/>
              </a:lnSpc>
              <a:spcBef>
                <a:spcPts val="0"/>
              </a:spcBef>
              <a:spcAft>
                <a:spcPts val="0"/>
              </a:spcAft>
              <a:buClr>
                <a:srgbClr val="13233A"/>
              </a:buClr>
              <a:buSzPts val="1200"/>
              <a:buFont typeface="JetBrains Mono"/>
              <a:buNone/>
            </a:pPr>
            <a:r>
              <a:rPr b="0" i="0" lang="en-US" sz="1200" u="none" cap="none" strike="noStrike">
                <a:solidFill>
                  <a:srgbClr val="13233A"/>
                </a:solidFill>
                <a:latin typeface="JetBrains Mono"/>
                <a:ea typeface="JetBrains Mono"/>
                <a:cs typeface="JetBrains Mono"/>
                <a:sym typeface="JetBrains Mono"/>
              </a:rPr>
              <a:t>trainer1 → ROLE_TRAINER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lnSpc>
                <a:spcPct val="190000"/>
              </a:lnSpc>
              <a:spcBef>
                <a:spcPts val="0"/>
              </a:spcBef>
              <a:spcAft>
                <a:spcPts val="0"/>
              </a:spcAft>
              <a:buClr>
                <a:srgbClr val="13233A"/>
              </a:buClr>
              <a:buSzPts val="1200"/>
              <a:buFont typeface="JetBrains Mono"/>
              <a:buNone/>
            </a:pPr>
            <a:r>
              <a:rPr b="0" i="0" lang="en-US" sz="1200" u="none" cap="none" strike="noStrike">
                <a:solidFill>
                  <a:srgbClr val="13233A"/>
                </a:solidFill>
                <a:latin typeface="JetBrains Mono"/>
                <a:ea typeface="JetBrains Mono"/>
                <a:cs typeface="JetBrains Mono"/>
                <a:sym typeface="JetBrains Mono"/>
              </a:rPr>
              <a:t>member1 → ROLE_MEMBER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5" name="Google Shape;105;p4"/>
          <p:cNvSpPr/>
          <p:nvPr/>
        </p:nvSpPr>
        <p:spPr>
          <a:xfrm>
            <a:off x="8218379" y="3152721"/>
            <a:ext cx="2988098" cy="452221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/>
          <a:p>
            <a:pPr indent="0" lvl="0" marL="0" marR="0" rtl="0" algn="l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Clr>
                <a:srgbClr val="4A5363"/>
              </a:buClr>
              <a:buSzPts val="1200"/>
              <a:buFont typeface="IBM Plex Sans"/>
              <a:buNone/>
            </a:pPr>
            <a:r>
              <a:rPr b="0" i="0" lang="en-US" sz="1200" u="none" cap="none" strike="noStrike">
                <a:solidFill>
                  <a:srgbClr val="4A5363"/>
                </a:solidFill>
                <a:latin typeface="IBM Plex Sans"/>
                <a:ea typeface="IBM Plex Sans"/>
                <a:cs typeface="IBM Plex Sans"/>
                <a:sym typeface="IBM Plex Sans"/>
              </a:rPr>
              <a:t>Credencial tipo password; secretos fuera de las diapositivas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6" name="Google Shape;106;p4"/>
          <p:cNvSpPr/>
          <p:nvPr/>
        </p:nvSpPr>
        <p:spPr>
          <a:xfrm>
            <a:off x="812782" y="4174582"/>
            <a:ext cx="10566436" cy="604423"/>
          </a:xfrm>
          <a:prstGeom prst="roundRect">
            <a:avLst>
              <a:gd fmla="val 16809" name="adj"/>
            </a:avLst>
          </a:prstGeom>
          <a:solidFill>
            <a:srgbClr val="13233A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07" name="Google Shape;107;p4"/>
          <p:cNvSpPr/>
          <p:nvPr/>
        </p:nvSpPr>
        <p:spPr>
          <a:xfrm>
            <a:off x="1066782" y="4352365"/>
            <a:ext cx="601644" cy="274259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/>
          <a:p>
            <a:pPr indent="0" lvl="0" marL="0" marR="0" rtl="0" algn="l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Clr>
                <a:srgbClr val="E4E9EF"/>
              </a:buClr>
              <a:buSzPts val="1400"/>
              <a:buFont typeface="IBM Plex Sans"/>
              <a:buNone/>
            </a:pPr>
            <a:r>
              <a:rPr b="1" i="0" lang="en-US" sz="1400" u="none" cap="none" strike="noStrike">
                <a:solidFill>
                  <a:srgbClr val="E4E9EF"/>
                </a:solidFill>
                <a:latin typeface="IBM Plex Sans"/>
                <a:ea typeface="IBM Plex Sans"/>
                <a:cs typeface="IBM Plex Sans"/>
                <a:sym typeface="IBM Plex Sans"/>
              </a:rPr>
              <a:t>RS256</a:t>
            </a:r>
            <a:endParaRPr b="0" i="0" sz="1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8" name="Google Shape;108;p4"/>
          <p:cNvSpPr/>
          <p:nvPr/>
        </p:nvSpPr>
        <p:spPr>
          <a:xfrm>
            <a:off x="1922408" y="4352365"/>
            <a:ext cx="1842953" cy="274259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/>
          <a:p>
            <a:pPr indent="0" lvl="0" marL="0" marR="0" rtl="0" algn="l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Clr>
                <a:srgbClr val="E4E9EF"/>
              </a:buClr>
              <a:buSzPts val="1400"/>
              <a:buFont typeface="IBM Plex Sans"/>
              <a:buNone/>
            </a:pPr>
            <a:r>
              <a:rPr b="0" i="0" lang="en-US" sz="1400" u="none" cap="none" strike="noStrike">
                <a:solidFill>
                  <a:srgbClr val="E4E9EF"/>
                </a:solidFill>
                <a:latin typeface="IBM Plex Sans"/>
                <a:ea typeface="IBM Plex Sans"/>
                <a:cs typeface="IBM Plex Sans"/>
                <a:sym typeface="IBM Plex Sans"/>
              </a:rPr>
              <a:t>Access token de </a:t>
            </a:r>
            <a:r>
              <a:rPr b="1" i="0" lang="en-US" sz="1400" u="none" cap="none" strike="noStrike">
                <a:solidFill>
                  <a:srgbClr val="E4E9EF"/>
                </a:solidFill>
                <a:latin typeface="IBM Plex Sans"/>
                <a:ea typeface="IBM Plex Sans"/>
                <a:cs typeface="IBM Plex Sans"/>
                <a:sym typeface="IBM Plex Sans"/>
              </a:rPr>
              <a:t>300 s</a:t>
            </a:r>
            <a:endParaRPr b="0" i="0" sz="1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9" name="Google Shape;109;p4"/>
          <p:cNvSpPr/>
          <p:nvPr/>
        </p:nvSpPr>
        <p:spPr>
          <a:xfrm>
            <a:off x="4016465" y="4352365"/>
            <a:ext cx="2682813" cy="274259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/>
          <a:p>
            <a:pPr indent="0" lvl="0" marL="0" marR="0" rtl="0" algn="l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Clr>
                <a:srgbClr val="E4E9EF"/>
              </a:buClr>
              <a:buSzPts val="1400"/>
              <a:buFont typeface="IBM Plex Sans"/>
              <a:buNone/>
            </a:pPr>
            <a:r>
              <a:rPr b="0" i="0" lang="en-US" sz="1400" u="none" cap="none" strike="noStrike">
                <a:solidFill>
                  <a:srgbClr val="E4E9EF"/>
                </a:solidFill>
                <a:latin typeface="IBM Plex Sans"/>
                <a:ea typeface="IBM Plex Sans"/>
                <a:cs typeface="IBM Plex Sans"/>
                <a:sym typeface="IBM Plex Sans"/>
              </a:rPr>
              <a:t>Export en </a:t>
            </a:r>
            <a:r>
              <a:rPr b="1" i="0" lang="en-US" sz="1400" u="none" cap="none" strike="noStrike">
                <a:solidFill>
                  <a:srgbClr val="E4E9EF"/>
                </a:solidFill>
                <a:latin typeface="IBM Plex Sans"/>
                <a:ea typeface="IBM Plex Sans"/>
                <a:cs typeface="IBM Plex Sans"/>
                <a:sym typeface="IBM Plex Sans"/>
              </a:rPr>
              <a:t>keycloak/full-export/</a:t>
            </a:r>
            <a:endParaRPr b="0" i="0" sz="1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10" name="Google Shape;110;p4"/>
          <p:cNvSpPr/>
          <p:nvPr/>
        </p:nvSpPr>
        <p:spPr>
          <a:xfrm>
            <a:off x="6925919" y="4352365"/>
            <a:ext cx="2086735" cy="274259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/>
          <a:p>
            <a:pPr indent="0" lvl="0" marL="0" marR="0" rtl="0" algn="l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Clr>
                <a:srgbClr val="E4E9EF"/>
              </a:buClr>
              <a:buSzPts val="1400"/>
              <a:buFont typeface="IBM Plex Sans"/>
              <a:buNone/>
            </a:pPr>
            <a:r>
              <a:rPr b="0" i="0" lang="en-US" sz="1400" u="none" cap="none" strike="noStrike">
                <a:solidFill>
                  <a:srgbClr val="E4E9EF"/>
                </a:solidFill>
                <a:latin typeface="IBM Plex Sans"/>
                <a:ea typeface="IBM Plex Sans"/>
                <a:cs typeface="IBM Plex Sans"/>
                <a:sym typeface="IBM Plex Sans"/>
              </a:rPr>
              <a:t>start-dev </a:t>
            </a:r>
            <a:r>
              <a:rPr b="1" i="0" lang="en-US" sz="1400" u="none" cap="none" strike="noStrike">
                <a:solidFill>
                  <a:srgbClr val="E4E9EF"/>
                </a:solidFill>
                <a:latin typeface="IBM Plex Sans"/>
                <a:ea typeface="IBM Plex Sans"/>
                <a:cs typeface="IBM Plex Sans"/>
                <a:sym typeface="IBM Plex Sans"/>
              </a:rPr>
              <a:t>--import-realm</a:t>
            </a:r>
            <a:endParaRPr b="0" i="0" sz="1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11" name="Google Shape;111;p4"/>
          <p:cNvSpPr/>
          <p:nvPr/>
        </p:nvSpPr>
        <p:spPr>
          <a:xfrm>
            <a:off x="812782" y="6238242"/>
            <a:ext cx="8502650" cy="23881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/>
          <a:p>
            <a:pPr indent="0" lvl="0" marL="0" marR="0" rtl="0" algn="l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Clr>
                <a:srgbClr val="5F6673"/>
              </a:buClr>
              <a:buSzPts val="1200"/>
              <a:buFont typeface="IBM Plex Sans"/>
              <a:buNone/>
            </a:pPr>
            <a:r>
              <a:rPr b="0" i="0" lang="en-US" sz="1200" u="none" cap="none" strike="noStrike">
                <a:solidFill>
                  <a:srgbClr val="5F6673"/>
                </a:solidFill>
                <a:latin typeface="IBM Plex Sans"/>
                <a:ea typeface="IBM Plex Sans"/>
                <a:cs typeface="IBM Plex Sans"/>
                <a:sym typeface="IBM Plex Sans"/>
              </a:rPr>
              <a:t>Microservicios Gym · Seguridad y comunicación asíncrona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12" name="Google Shape;112;p4"/>
          <p:cNvSpPr/>
          <p:nvPr/>
        </p:nvSpPr>
        <p:spPr>
          <a:xfrm>
            <a:off x="10058418" y="6238242"/>
            <a:ext cx="1320800" cy="23881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/>
          <a:p>
            <a:pPr indent="0" lvl="0" marL="0" marR="0" rtl="0" algn="r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Clr>
                <a:srgbClr val="5F6673"/>
              </a:buClr>
              <a:buSzPts val="1200"/>
              <a:buFont typeface="IBM Plex Sans"/>
              <a:buNone/>
            </a:pPr>
            <a:r>
              <a:rPr b="0" i="0" lang="en-US" sz="1200" u="none" cap="none" strike="noStrike">
                <a:solidFill>
                  <a:srgbClr val="5F6673"/>
                </a:solidFill>
                <a:latin typeface="IBM Plex Sans"/>
                <a:ea typeface="IBM Plex Sans"/>
                <a:cs typeface="IBM Plex Sans"/>
                <a:sym typeface="IBM Plex Sans"/>
              </a:rPr>
              <a:t>04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5F4EF"/>
        </a:solidFill>
      </p:bgPr>
    </p:bg>
    <p:spTree>
      <p:nvGrpSpPr>
        <p:cNvPr id="117" name="Shape 11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8" name="Google Shape;118;h16dd958677814f23_0_50"/>
          <p:cNvSpPr/>
          <p:nvPr/>
        </p:nvSpPr>
        <p:spPr>
          <a:xfrm>
            <a:off x="812782" y="609563"/>
            <a:ext cx="10883400" cy="238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Clr>
                <a:srgbClr val="2F5FA7"/>
              </a:buClr>
              <a:buSzPts val="1200"/>
              <a:buFont typeface="JetBrains Mono"/>
              <a:buNone/>
            </a:pPr>
            <a:r>
              <a:rPr b="0" i="0" lang="en-US" sz="1200" u="none" cap="none" strike="noStrike">
                <a:solidFill>
                  <a:srgbClr val="2F5FA7"/>
                </a:solidFill>
                <a:latin typeface="JetBrains Mono"/>
                <a:ea typeface="JetBrains Mono"/>
                <a:cs typeface="JetBrains Mono"/>
                <a:sym typeface="JetBrains Mono"/>
              </a:rPr>
              <a:t>SEGURIDAD · CÓDIGO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19" name="Google Shape;119;h16dd958677814f23_0_50"/>
          <p:cNvSpPr/>
          <p:nvPr/>
        </p:nvSpPr>
        <p:spPr>
          <a:xfrm>
            <a:off x="812782" y="899102"/>
            <a:ext cx="10883400" cy="444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>
                <a:srgbClr val="13233A"/>
              </a:buClr>
              <a:buSzPts val="3000"/>
              <a:buFont typeface="IBM Plex Sans"/>
              <a:buNone/>
            </a:pPr>
            <a:r>
              <a:rPr b="1" i="0" lang="en-US" sz="3000" u="none" cap="none" strike="noStrike">
                <a:solidFill>
                  <a:srgbClr val="13233A"/>
                </a:solidFill>
                <a:latin typeface="IBM Plex Sans"/>
                <a:ea typeface="IBM Plex Sans"/>
                <a:cs typeface="IBM Plex Sans"/>
                <a:sym typeface="IBM Plex Sans"/>
              </a:rPr>
              <a:t>Tres piezas iguales en los cuatro servicios</a:t>
            </a:r>
            <a:endParaRPr b="0" i="0" sz="3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20" name="Google Shape;120;h16dd958677814f23_0_50"/>
          <p:cNvSpPr/>
          <p:nvPr/>
        </p:nvSpPr>
        <p:spPr>
          <a:xfrm>
            <a:off x="812782" y="1521293"/>
            <a:ext cx="5337000" cy="2565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Clr>
                <a:srgbClr val="13233A"/>
              </a:buClr>
              <a:buSzPts val="1300"/>
              <a:buFont typeface="IBM Plex Sans"/>
              <a:buNone/>
            </a:pPr>
            <a:r>
              <a:rPr b="1" i="0" lang="en-US" sz="1300" u="none" cap="none" strike="noStrike">
                <a:solidFill>
                  <a:srgbClr val="13233A"/>
                </a:solidFill>
                <a:latin typeface="IBM Plex Sans"/>
                <a:ea typeface="IBM Plex Sans"/>
                <a:cs typeface="IBM Plex Sans"/>
                <a:sym typeface="IBM Plex Sans"/>
              </a:rPr>
              <a:t>1 · Filter chain </a:t>
            </a:r>
            <a:r>
              <a:rPr b="1" i="0" lang="en-US" sz="1300" u="none" cap="none" strike="noStrike">
                <a:solidFill>
                  <a:srgbClr val="4A5363"/>
                </a:solidFill>
                <a:latin typeface="IBM Plex Sans"/>
                <a:ea typeface="IBM Plex Sans"/>
                <a:cs typeface="IBM Plex Sans"/>
                <a:sym typeface="IBM Plex Sans"/>
              </a:rPr>
              <a:t>SecurityConfig.java</a:t>
            </a:r>
            <a:endParaRPr b="0" i="0" sz="13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21" name="Google Shape;121;h16dd958677814f23_0_50"/>
          <p:cNvSpPr/>
          <p:nvPr/>
        </p:nvSpPr>
        <p:spPr>
          <a:xfrm>
            <a:off x="812775" y="1828500"/>
            <a:ext cx="5181600" cy="3768000"/>
          </a:xfrm>
          <a:prstGeom prst="roundRect">
            <a:avLst>
              <a:gd fmla="val 3147" name="adj"/>
            </a:avLst>
          </a:prstGeom>
          <a:solidFill>
            <a:srgbClr val="13233A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22" name="Google Shape;122;h16dd958677814f23_0_50"/>
          <p:cNvSpPr/>
          <p:nvPr/>
        </p:nvSpPr>
        <p:spPr>
          <a:xfrm>
            <a:off x="1015910" y="2006293"/>
            <a:ext cx="4918800" cy="28983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45000"/>
              </a:lnSpc>
              <a:spcBef>
                <a:spcPts val="0"/>
              </a:spcBef>
              <a:spcAft>
                <a:spcPts val="0"/>
              </a:spcAft>
              <a:buClr>
                <a:srgbClr val="E4E9EF"/>
              </a:buClr>
              <a:buSzPts val="1200"/>
              <a:buFont typeface="JetBrains Mono"/>
              <a:buNone/>
            </a:pPr>
            <a:r>
              <a:rPr b="0" i="0" lang="en-US" sz="1200" u="none" cap="none" strike="noStrike">
                <a:solidFill>
                  <a:srgbClr val="E4E9EF"/>
                </a:solidFill>
                <a:latin typeface="JetBrains Mono"/>
                <a:ea typeface="JetBrains Mono"/>
                <a:cs typeface="JetBrains Mono"/>
                <a:sym typeface="JetBrains Mono"/>
              </a:rPr>
              <a:t>http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lnSpc>
                <a:spcPct val="145000"/>
              </a:lnSpc>
              <a:spcBef>
                <a:spcPts val="0"/>
              </a:spcBef>
              <a:spcAft>
                <a:spcPts val="0"/>
              </a:spcAft>
              <a:buClr>
                <a:srgbClr val="E4E9EF"/>
              </a:buClr>
              <a:buSzPts val="1200"/>
              <a:buFont typeface="JetBrains Mono"/>
              <a:buNone/>
            </a:pPr>
            <a:r>
              <a:rPr b="0" i="0" lang="en-US" sz="1200" u="none" cap="none" strike="noStrike">
                <a:solidFill>
                  <a:srgbClr val="E4E9EF"/>
                </a:solidFill>
                <a:latin typeface="JetBrains Mono"/>
                <a:ea typeface="JetBrains Mono"/>
                <a:cs typeface="JetBrains Mono"/>
                <a:sym typeface="JetBrains Mono"/>
              </a:rPr>
              <a:t>  .csrf(AbstractHttpConfigurer::disable)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lnSpc>
                <a:spcPct val="145000"/>
              </a:lnSpc>
              <a:spcBef>
                <a:spcPts val="0"/>
              </a:spcBef>
              <a:spcAft>
                <a:spcPts val="0"/>
              </a:spcAft>
              <a:buClr>
                <a:srgbClr val="E4E9EF"/>
              </a:buClr>
              <a:buSzPts val="1200"/>
              <a:buFont typeface="JetBrains Mono"/>
              <a:buNone/>
            </a:pPr>
            <a:r>
              <a:rPr b="0" i="0" lang="en-US" sz="1200" u="none" cap="none" strike="noStrike">
                <a:solidFill>
                  <a:srgbClr val="E4E9EF"/>
                </a:solidFill>
                <a:latin typeface="JetBrains Mono"/>
                <a:ea typeface="JetBrains Mono"/>
                <a:cs typeface="JetBrains Mono"/>
                <a:sym typeface="JetBrains Mono"/>
              </a:rPr>
              <a:t>  .sessionManagement(session -&gt; session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lnSpc>
                <a:spcPct val="145000"/>
              </a:lnSpc>
              <a:spcBef>
                <a:spcPts val="0"/>
              </a:spcBef>
              <a:spcAft>
                <a:spcPts val="0"/>
              </a:spcAft>
              <a:buClr>
                <a:srgbClr val="E4E9EF"/>
              </a:buClr>
              <a:buSzPts val="1200"/>
              <a:buFont typeface="JetBrains Mono"/>
              <a:buNone/>
            </a:pPr>
            <a:r>
              <a:rPr b="0" i="0" lang="en-US" sz="1200" u="none" cap="none" strike="noStrike">
                <a:solidFill>
                  <a:srgbClr val="E4E9EF"/>
                </a:solidFill>
                <a:latin typeface="JetBrains Mono"/>
                <a:ea typeface="JetBrains Mono"/>
                <a:cs typeface="JetBrains Mono"/>
                <a:sym typeface="JetBrains Mono"/>
              </a:rPr>
              <a:t>    .sessionCreationPolicy(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lnSpc>
                <a:spcPct val="145000"/>
              </a:lnSpc>
              <a:spcBef>
                <a:spcPts val="0"/>
              </a:spcBef>
              <a:spcAft>
                <a:spcPts val="0"/>
              </a:spcAft>
              <a:buClr>
                <a:srgbClr val="E4E9EF"/>
              </a:buClr>
              <a:buSzPts val="1200"/>
              <a:buFont typeface="JetBrains Mono"/>
              <a:buNone/>
            </a:pPr>
            <a:r>
              <a:rPr b="0" i="0" lang="en-US" sz="1200" u="none" cap="none" strike="noStrike">
                <a:solidFill>
                  <a:srgbClr val="E4E9EF"/>
                </a:solidFill>
                <a:latin typeface="JetBrains Mono"/>
                <a:ea typeface="JetBrains Mono"/>
                <a:cs typeface="JetBrains Mono"/>
                <a:sym typeface="JetBrains Mono"/>
              </a:rPr>
              <a:t>      SessionCreationPolicy.STATELESS))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lnSpc>
                <a:spcPct val="145000"/>
              </a:lnSpc>
              <a:spcBef>
                <a:spcPts val="0"/>
              </a:spcBef>
              <a:spcAft>
                <a:spcPts val="0"/>
              </a:spcAft>
              <a:buClr>
                <a:srgbClr val="E4E9EF"/>
              </a:buClr>
              <a:buSzPts val="1200"/>
              <a:buFont typeface="JetBrains Mono"/>
              <a:buNone/>
            </a:pPr>
            <a:r>
              <a:rPr b="0" i="0" lang="en-US" sz="1200" u="none" cap="none" strike="noStrike">
                <a:solidFill>
                  <a:srgbClr val="E4E9EF"/>
                </a:solidFill>
                <a:latin typeface="JetBrains Mono"/>
                <a:ea typeface="JetBrains Mono"/>
                <a:cs typeface="JetBrains Mono"/>
                <a:sym typeface="JetBrains Mono"/>
              </a:rPr>
              <a:t>  .authorizeHttpRequests(authz -&gt; authz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lnSpc>
                <a:spcPct val="145000"/>
              </a:lnSpc>
              <a:spcBef>
                <a:spcPts val="0"/>
              </a:spcBef>
              <a:spcAft>
                <a:spcPts val="0"/>
              </a:spcAft>
              <a:buClr>
                <a:srgbClr val="E4E9EF"/>
              </a:buClr>
              <a:buSzPts val="1200"/>
              <a:buFont typeface="JetBrains Mono"/>
              <a:buNone/>
            </a:pPr>
            <a:r>
              <a:rPr b="0" i="0" lang="en-US" sz="1200" u="none" cap="none" strike="noStrike">
                <a:solidFill>
                  <a:srgbClr val="E4E9EF"/>
                </a:solidFill>
                <a:latin typeface="JetBrains Mono"/>
                <a:ea typeface="JetBrains Mono"/>
                <a:cs typeface="JetBrains Mono"/>
                <a:sym typeface="JetBrains Mono"/>
              </a:rPr>
              <a:t>    .requestMatchers("/swagger-ui/**",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lnSpc>
                <a:spcPct val="145000"/>
              </a:lnSpc>
              <a:spcBef>
                <a:spcPts val="0"/>
              </a:spcBef>
              <a:spcAft>
                <a:spcPts val="0"/>
              </a:spcAft>
              <a:buClr>
                <a:srgbClr val="E4E9EF"/>
              </a:buClr>
              <a:buSzPts val="1200"/>
              <a:buFont typeface="JetBrains Mono"/>
              <a:buNone/>
            </a:pPr>
            <a:r>
              <a:rPr b="0" i="0" lang="en-US" sz="1200" u="none" cap="none" strike="noStrike">
                <a:solidFill>
                  <a:srgbClr val="E4E9EF"/>
                </a:solidFill>
                <a:latin typeface="JetBrains Mono"/>
                <a:ea typeface="JetBrains Mono"/>
                <a:cs typeface="JetBrains Mono"/>
                <a:sym typeface="JetBrains Mono"/>
              </a:rPr>
              <a:t>      "/swagger-ui.html", "/v3/api-docs/**")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lnSpc>
                <a:spcPct val="145000"/>
              </a:lnSpc>
              <a:spcBef>
                <a:spcPts val="0"/>
              </a:spcBef>
              <a:spcAft>
                <a:spcPts val="0"/>
              </a:spcAft>
              <a:buClr>
                <a:srgbClr val="E4E9EF"/>
              </a:buClr>
              <a:buSzPts val="1200"/>
              <a:buFont typeface="JetBrains Mono"/>
              <a:buNone/>
            </a:pPr>
            <a:r>
              <a:rPr b="0" i="0" lang="en-US" sz="1200" u="none" cap="none" strike="noStrike">
                <a:solidFill>
                  <a:srgbClr val="E4E9EF"/>
                </a:solidFill>
                <a:latin typeface="JetBrains Mono"/>
                <a:ea typeface="JetBrains Mono"/>
                <a:cs typeface="JetBrains Mono"/>
                <a:sym typeface="JetBrains Mono"/>
              </a:rPr>
              <a:t>    .permitAll()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lnSpc>
                <a:spcPct val="145000"/>
              </a:lnSpc>
              <a:spcBef>
                <a:spcPts val="0"/>
              </a:spcBef>
              <a:spcAft>
                <a:spcPts val="0"/>
              </a:spcAft>
              <a:buClr>
                <a:srgbClr val="E4E9EF"/>
              </a:buClr>
              <a:buSzPts val="1200"/>
              <a:buFont typeface="JetBrains Mono"/>
              <a:buNone/>
            </a:pPr>
            <a:r>
              <a:rPr b="0" i="0" lang="en-US" sz="1200" u="none" cap="none" strike="noStrike">
                <a:solidFill>
                  <a:srgbClr val="E4E9EF"/>
                </a:solidFill>
                <a:latin typeface="JetBrains Mono"/>
                <a:ea typeface="JetBrains Mono"/>
                <a:cs typeface="JetBrains Mono"/>
                <a:sym typeface="JetBrains Mono"/>
              </a:rPr>
              <a:t>    .anyRequest().authenticated())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lnSpc>
                <a:spcPct val="145000"/>
              </a:lnSpc>
              <a:spcBef>
                <a:spcPts val="0"/>
              </a:spcBef>
              <a:spcAft>
                <a:spcPts val="0"/>
              </a:spcAft>
              <a:buClr>
                <a:srgbClr val="E4E9EF"/>
              </a:buClr>
              <a:buSzPts val="1200"/>
              <a:buFont typeface="JetBrains Mono"/>
              <a:buNone/>
            </a:pPr>
            <a:r>
              <a:rPr b="0" i="0" lang="en-US" sz="1200" u="none" cap="none" strike="noStrike">
                <a:solidFill>
                  <a:srgbClr val="E4E9EF"/>
                </a:solidFill>
                <a:latin typeface="JetBrains Mono"/>
                <a:ea typeface="JetBrains Mono"/>
                <a:cs typeface="JetBrains Mono"/>
                <a:sym typeface="JetBrains Mono"/>
              </a:rPr>
              <a:t>  .oauth2ResourceServer(oauth2 -&gt; oauth2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lnSpc>
                <a:spcPct val="145000"/>
              </a:lnSpc>
              <a:spcBef>
                <a:spcPts val="0"/>
              </a:spcBef>
              <a:spcAft>
                <a:spcPts val="0"/>
              </a:spcAft>
              <a:buClr>
                <a:srgbClr val="E4E9EF"/>
              </a:buClr>
              <a:buSzPts val="1200"/>
              <a:buFont typeface="JetBrains Mono"/>
              <a:buNone/>
            </a:pPr>
            <a:r>
              <a:rPr b="0" i="0" lang="en-US" sz="1200" u="none" cap="none" strike="noStrike">
                <a:solidFill>
                  <a:srgbClr val="E4E9EF"/>
                </a:solidFill>
                <a:latin typeface="JetBrains Mono"/>
                <a:ea typeface="JetBrains Mono"/>
                <a:cs typeface="JetBrains Mono"/>
                <a:sym typeface="JetBrains Mono"/>
              </a:rPr>
              <a:t>    .jwt(jwt -&gt; jwt.jwtAuthenticationConverter(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lnSpc>
                <a:spcPct val="145000"/>
              </a:lnSpc>
              <a:spcBef>
                <a:spcPts val="0"/>
              </a:spcBef>
              <a:spcAft>
                <a:spcPts val="0"/>
              </a:spcAft>
              <a:buClr>
                <a:srgbClr val="E4E9EF"/>
              </a:buClr>
              <a:buSzPts val="1200"/>
              <a:buFont typeface="JetBrains Mono"/>
              <a:buNone/>
            </a:pPr>
            <a:r>
              <a:rPr b="0" i="0" lang="en-US" sz="1200" u="none" cap="none" strike="noStrike">
                <a:solidFill>
                  <a:srgbClr val="E4E9EF"/>
                </a:solidFill>
                <a:latin typeface="JetBrains Mono"/>
                <a:ea typeface="JetBrains Mono"/>
                <a:cs typeface="JetBrains Mono"/>
                <a:sym typeface="JetBrains Mono"/>
              </a:rPr>
              <a:t>      jwtAuthenticationConverter())));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23" name="Google Shape;123;h16dd958677814f23_0_50"/>
          <p:cNvSpPr/>
          <p:nvPr/>
        </p:nvSpPr>
        <p:spPr>
          <a:xfrm>
            <a:off x="6197564" y="1521293"/>
            <a:ext cx="5337000" cy="2565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Clr>
                <a:srgbClr val="13233A"/>
              </a:buClr>
              <a:buSzPts val="1300"/>
              <a:buFont typeface="IBM Plex Sans"/>
              <a:buNone/>
            </a:pPr>
            <a:r>
              <a:rPr b="1" i="0" lang="en-US" sz="1300" u="none" cap="none" strike="noStrike">
                <a:solidFill>
                  <a:srgbClr val="13233A"/>
                </a:solidFill>
                <a:latin typeface="IBM Plex Sans"/>
                <a:ea typeface="IBM Plex Sans"/>
                <a:cs typeface="IBM Plex Sans"/>
                <a:sym typeface="IBM Plex Sans"/>
              </a:rPr>
              <a:t>2 · Roles de realm </a:t>
            </a:r>
            <a:r>
              <a:rPr b="1" i="0" lang="en-US" sz="1300" u="none" cap="none" strike="noStrike">
                <a:solidFill>
                  <a:srgbClr val="4A5363"/>
                </a:solidFill>
                <a:latin typeface="IBM Plex Sans"/>
                <a:ea typeface="IBM Plex Sans"/>
                <a:cs typeface="IBM Plex Sans"/>
                <a:sym typeface="IBM Plex Sans"/>
              </a:rPr>
              <a:t>KeycloakRealmRoleConverter.java</a:t>
            </a:r>
            <a:endParaRPr b="0" i="0" sz="13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24" name="Google Shape;124;h16dd958677814f23_0_50"/>
          <p:cNvSpPr/>
          <p:nvPr/>
        </p:nvSpPr>
        <p:spPr>
          <a:xfrm>
            <a:off x="6197564" y="1828509"/>
            <a:ext cx="5181600" cy="1681500"/>
          </a:xfrm>
          <a:prstGeom prst="roundRect">
            <a:avLst>
              <a:gd fmla="val 6042" name="adj"/>
            </a:avLst>
          </a:prstGeom>
          <a:solidFill>
            <a:srgbClr val="13233A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25" name="Google Shape;125;h16dd958677814f23_0_50"/>
          <p:cNvSpPr/>
          <p:nvPr/>
        </p:nvSpPr>
        <p:spPr>
          <a:xfrm>
            <a:off x="6400691" y="2006293"/>
            <a:ext cx="4918800" cy="1351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45000"/>
              </a:lnSpc>
              <a:spcBef>
                <a:spcPts val="0"/>
              </a:spcBef>
              <a:spcAft>
                <a:spcPts val="0"/>
              </a:spcAft>
              <a:buClr>
                <a:srgbClr val="E4E9EF"/>
              </a:buClr>
              <a:buSzPts val="1200"/>
              <a:buFont typeface="JetBrains Mono"/>
              <a:buNone/>
            </a:pPr>
            <a:r>
              <a:rPr b="0" i="0" lang="en-US" sz="1200" u="none" cap="none" strike="noStrike">
                <a:solidFill>
                  <a:srgbClr val="E4E9EF"/>
                </a:solidFill>
                <a:latin typeface="JetBrains Mono"/>
                <a:ea typeface="JetBrains Mono"/>
                <a:cs typeface="JetBrains Mono"/>
                <a:sym typeface="JetBrains Mono"/>
              </a:rPr>
              <a:t>realmAccess = jwt.getClaims().get("realm_access");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lnSpc>
                <a:spcPct val="145000"/>
              </a:lnSpc>
              <a:spcBef>
                <a:spcPts val="0"/>
              </a:spcBef>
              <a:spcAft>
                <a:spcPts val="0"/>
              </a:spcAft>
              <a:buClr>
                <a:srgbClr val="E4E9EF"/>
              </a:buClr>
              <a:buSzPts val="1200"/>
              <a:buFont typeface="JetBrains Mono"/>
              <a:buNone/>
            </a:pPr>
            <a:r>
              <a:rPr b="0" i="0" lang="en-US" sz="1200" u="none" cap="none" strike="noStrike">
                <a:solidFill>
                  <a:srgbClr val="E4E9EF"/>
                </a:solidFill>
                <a:latin typeface="JetBrains Mono"/>
                <a:ea typeface="JetBrains Mono"/>
                <a:cs typeface="JetBrains Mono"/>
                <a:sym typeface="JetBrains Mono"/>
              </a:rPr>
              <a:t>return realmAccess.get("roles").stream()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lnSpc>
                <a:spcPct val="145000"/>
              </a:lnSpc>
              <a:spcBef>
                <a:spcPts val="0"/>
              </a:spcBef>
              <a:spcAft>
                <a:spcPts val="0"/>
              </a:spcAft>
              <a:buClr>
                <a:srgbClr val="E4E9EF"/>
              </a:buClr>
              <a:buSzPts val="1200"/>
              <a:buFont typeface="JetBrains Mono"/>
              <a:buNone/>
            </a:pPr>
            <a:r>
              <a:rPr b="0" i="0" lang="en-US" sz="1200" u="none" cap="none" strike="noStrike">
                <a:solidFill>
                  <a:srgbClr val="E4E9EF"/>
                </a:solidFill>
                <a:latin typeface="JetBrains Mono"/>
                <a:ea typeface="JetBrains Mono"/>
                <a:cs typeface="JetBrains Mono"/>
                <a:sym typeface="JetBrains Mono"/>
              </a:rPr>
              <a:t>  .map(roleName -&gt; roleName.startsWith("ROLE_")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lnSpc>
                <a:spcPct val="145000"/>
              </a:lnSpc>
              <a:spcBef>
                <a:spcPts val="0"/>
              </a:spcBef>
              <a:spcAft>
                <a:spcPts val="0"/>
              </a:spcAft>
              <a:buClr>
                <a:srgbClr val="E4E9EF"/>
              </a:buClr>
              <a:buSzPts val="1200"/>
              <a:buFont typeface="JetBrains Mono"/>
              <a:buNone/>
            </a:pPr>
            <a:r>
              <a:rPr b="0" i="0" lang="en-US" sz="1200" u="none" cap="none" strike="noStrike">
                <a:solidFill>
                  <a:srgbClr val="E4E9EF"/>
                </a:solidFill>
                <a:latin typeface="JetBrains Mono"/>
                <a:ea typeface="JetBrains Mono"/>
                <a:cs typeface="JetBrains Mono"/>
                <a:sym typeface="JetBrains Mono"/>
              </a:rPr>
              <a:t>    ? new SimpleGrantedAuthority(roleName)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lnSpc>
                <a:spcPct val="145000"/>
              </a:lnSpc>
              <a:spcBef>
                <a:spcPts val="0"/>
              </a:spcBef>
              <a:spcAft>
                <a:spcPts val="0"/>
              </a:spcAft>
              <a:buClr>
                <a:srgbClr val="E4E9EF"/>
              </a:buClr>
              <a:buSzPts val="1200"/>
              <a:buFont typeface="JetBrains Mono"/>
              <a:buNone/>
            </a:pPr>
            <a:r>
              <a:rPr b="0" i="0" lang="en-US" sz="1200" u="none" cap="none" strike="noStrike">
                <a:solidFill>
                  <a:srgbClr val="E4E9EF"/>
                </a:solidFill>
                <a:latin typeface="JetBrains Mono"/>
                <a:ea typeface="JetBrains Mono"/>
                <a:cs typeface="JetBrains Mono"/>
                <a:sym typeface="JetBrains Mono"/>
              </a:rPr>
              <a:t>    : new SimpleGrantedAuthority("ROLE_" + roleName))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lnSpc>
                <a:spcPct val="145000"/>
              </a:lnSpc>
              <a:spcBef>
                <a:spcPts val="0"/>
              </a:spcBef>
              <a:spcAft>
                <a:spcPts val="0"/>
              </a:spcAft>
              <a:buClr>
                <a:srgbClr val="E4E9EF"/>
              </a:buClr>
              <a:buSzPts val="1200"/>
              <a:buFont typeface="JetBrains Mono"/>
              <a:buNone/>
            </a:pPr>
            <a:r>
              <a:rPr b="0" i="0" lang="en-US" sz="1200" u="none" cap="none" strike="noStrike">
                <a:solidFill>
                  <a:srgbClr val="E4E9EF"/>
                </a:solidFill>
                <a:latin typeface="JetBrains Mono"/>
                <a:ea typeface="JetBrains Mono"/>
                <a:cs typeface="JetBrains Mono"/>
                <a:sym typeface="JetBrains Mono"/>
              </a:rPr>
              <a:t>  .collect(Collectors.toList());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26" name="Google Shape;126;h16dd958677814f23_0_50"/>
          <p:cNvSpPr/>
          <p:nvPr/>
        </p:nvSpPr>
        <p:spPr>
          <a:xfrm>
            <a:off x="6197564" y="3586125"/>
            <a:ext cx="5337000" cy="2565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Clr>
                <a:srgbClr val="13233A"/>
              </a:buClr>
              <a:buSzPts val="1300"/>
              <a:buFont typeface="IBM Plex Sans"/>
              <a:buNone/>
            </a:pPr>
            <a:r>
              <a:rPr b="1" i="0" lang="en-US" sz="1300" u="none" cap="none" strike="noStrike">
                <a:solidFill>
                  <a:srgbClr val="13233A"/>
                </a:solidFill>
                <a:latin typeface="IBM Plex Sans"/>
                <a:ea typeface="IBM Plex Sans"/>
                <a:cs typeface="IBM Plex Sans"/>
                <a:sym typeface="IBM Plex Sans"/>
              </a:rPr>
              <a:t>3 · Autorización </a:t>
            </a:r>
            <a:r>
              <a:rPr b="1" i="0" lang="en-US" sz="1300" u="none" cap="none" strike="noStrike">
                <a:solidFill>
                  <a:srgbClr val="4A5363"/>
                </a:solidFill>
                <a:latin typeface="IBM Plex Sans"/>
                <a:ea typeface="IBM Plex Sans"/>
                <a:cs typeface="IBM Plex Sans"/>
                <a:sym typeface="IBM Plex Sans"/>
              </a:rPr>
              <a:t>MiembroController.java</a:t>
            </a:r>
            <a:endParaRPr b="0" i="0" sz="13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27" name="Google Shape;127;h16dd958677814f23_0_50"/>
          <p:cNvSpPr/>
          <p:nvPr/>
        </p:nvSpPr>
        <p:spPr>
          <a:xfrm>
            <a:off x="6197564" y="3893344"/>
            <a:ext cx="5181600" cy="1239600"/>
          </a:xfrm>
          <a:prstGeom prst="roundRect">
            <a:avLst>
              <a:gd fmla="val 8197" name="adj"/>
            </a:avLst>
          </a:prstGeom>
          <a:solidFill>
            <a:srgbClr val="13233A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28" name="Google Shape;128;h16dd958677814f23_0_50"/>
          <p:cNvSpPr/>
          <p:nvPr/>
        </p:nvSpPr>
        <p:spPr>
          <a:xfrm>
            <a:off x="6400691" y="4071125"/>
            <a:ext cx="4918800" cy="9093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45000"/>
              </a:lnSpc>
              <a:spcBef>
                <a:spcPts val="0"/>
              </a:spcBef>
              <a:spcAft>
                <a:spcPts val="0"/>
              </a:spcAft>
              <a:buClr>
                <a:srgbClr val="E4E9EF"/>
              </a:buClr>
              <a:buSzPts val="1200"/>
              <a:buFont typeface="JetBrains Mono"/>
              <a:buNone/>
            </a:pPr>
            <a:r>
              <a:rPr b="0" i="0" lang="en-US" sz="1200" u="none" cap="none" strike="noStrike">
                <a:solidFill>
                  <a:srgbClr val="E4E9EF"/>
                </a:solidFill>
                <a:latin typeface="JetBrains Mono"/>
                <a:ea typeface="JetBrains Mono"/>
                <a:cs typeface="JetBrains Mono"/>
                <a:sym typeface="JetBrains Mono"/>
              </a:rPr>
              <a:t>@PostMapping("/{id}/pagos")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lnSpc>
                <a:spcPct val="145000"/>
              </a:lnSpc>
              <a:spcBef>
                <a:spcPts val="0"/>
              </a:spcBef>
              <a:spcAft>
                <a:spcPts val="0"/>
              </a:spcAft>
              <a:buClr>
                <a:srgbClr val="E4E9EF"/>
              </a:buClr>
              <a:buSzPts val="1200"/>
              <a:buFont typeface="JetBrains Mono"/>
              <a:buNone/>
            </a:pPr>
            <a:r>
              <a:rPr b="0" i="0" lang="en-US" sz="1200" u="none" cap="none" strike="noStrike">
                <a:solidFill>
                  <a:srgbClr val="E4E9EF"/>
                </a:solidFill>
                <a:latin typeface="JetBrains Mono"/>
                <a:ea typeface="JetBrains Mono"/>
                <a:cs typeface="JetBrains Mono"/>
                <a:sym typeface="JetBrains Mono"/>
              </a:rPr>
              <a:t>@ResponseStatus(HttpStatus.ACCEPTED)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lnSpc>
                <a:spcPct val="145000"/>
              </a:lnSpc>
              <a:spcBef>
                <a:spcPts val="0"/>
              </a:spcBef>
              <a:spcAft>
                <a:spcPts val="0"/>
              </a:spcAft>
              <a:buClr>
                <a:srgbClr val="E4E9EF"/>
              </a:buClr>
              <a:buSzPts val="1200"/>
              <a:buFont typeface="JetBrains Mono"/>
              <a:buNone/>
            </a:pPr>
            <a:r>
              <a:rPr b="0" i="0" lang="en-US" sz="1200" u="none" cap="none" strike="noStrike">
                <a:solidFill>
                  <a:srgbClr val="E4E9EF"/>
                </a:solidFill>
                <a:latin typeface="JetBrains Mono"/>
                <a:ea typeface="JetBrains Mono"/>
                <a:cs typeface="JetBrains Mono"/>
                <a:sym typeface="JetBrains Mono"/>
              </a:rPr>
              <a:t>@PreAuthorize(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lnSpc>
                <a:spcPct val="145000"/>
              </a:lnSpc>
              <a:spcBef>
                <a:spcPts val="0"/>
              </a:spcBef>
              <a:spcAft>
                <a:spcPts val="0"/>
              </a:spcAft>
              <a:buClr>
                <a:srgbClr val="E4E9EF"/>
              </a:buClr>
              <a:buSzPts val="1200"/>
              <a:buFont typeface="JetBrains Mono"/>
              <a:buNone/>
            </a:pPr>
            <a:r>
              <a:rPr b="0" i="0" lang="en-US" sz="1200" u="none" cap="none" strike="noStrike">
                <a:solidFill>
                  <a:srgbClr val="E4E9EF"/>
                </a:solidFill>
                <a:latin typeface="JetBrains Mono"/>
                <a:ea typeface="JetBrains Mono"/>
                <a:cs typeface="JetBrains Mono"/>
                <a:sym typeface="JetBrains Mono"/>
              </a:rPr>
              <a:t>  "hasAnyRole('ROLE_ADMIN', 'ROLE_MEMBER')")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29" name="Google Shape;129;h16dd958677814f23_0_50"/>
          <p:cNvSpPr/>
          <p:nvPr/>
        </p:nvSpPr>
        <p:spPr>
          <a:xfrm>
            <a:off x="812782" y="6238242"/>
            <a:ext cx="8502600" cy="238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Clr>
                <a:srgbClr val="5F6673"/>
              </a:buClr>
              <a:buSzPts val="1200"/>
              <a:buFont typeface="IBM Plex Sans"/>
              <a:buNone/>
            </a:pPr>
            <a:r>
              <a:rPr b="0" i="0" lang="en-US" sz="1200" u="none" cap="none" strike="noStrike">
                <a:solidFill>
                  <a:srgbClr val="5F6673"/>
                </a:solidFill>
                <a:latin typeface="IBM Plex Sans"/>
                <a:ea typeface="IBM Plex Sans"/>
                <a:cs typeface="IBM Plex Sans"/>
                <a:sym typeface="IBM Plex Sans"/>
              </a:rPr>
              <a:t>Microservicios Gym · Seguridad y comunicación asíncrona · fragmentos resumidos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30" name="Google Shape;130;h16dd958677814f23_0_50"/>
          <p:cNvSpPr/>
          <p:nvPr/>
        </p:nvSpPr>
        <p:spPr>
          <a:xfrm>
            <a:off x="10058418" y="6238242"/>
            <a:ext cx="1320900" cy="238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r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Clr>
                <a:srgbClr val="5F6673"/>
              </a:buClr>
              <a:buSzPts val="1200"/>
              <a:buFont typeface="IBM Plex Sans"/>
              <a:buNone/>
            </a:pPr>
            <a:r>
              <a:rPr b="0" i="0" lang="en-US" sz="1200" u="none" cap="none" strike="noStrike">
                <a:solidFill>
                  <a:srgbClr val="5F6673"/>
                </a:solidFill>
                <a:latin typeface="IBM Plex Sans"/>
                <a:ea typeface="IBM Plex Sans"/>
                <a:cs typeface="IBM Plex Sans"/>
                <a:sym typeface="IBM Plex Sans"/>
              </a:rPr>
              <a:t>06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5F4EF"/>
        </a:solidFill>
      </p:bgPr>
    </p:bg>
    <p:spTree>
      <p:nvGrpSpPr>
        <p:cNvPr id="135" name="Shape 1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6" name="Google Shape;136;p5"/>
          <p:cNvSpPr/>
          <p:nvPr/>
        </p:nvSpPr>
        <p:spPr>
          <a:xfrm>
            <a:off x="805014" y="762406"/>
            <a:ext cx="3786000" cy="360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/>
          <a:p>
            <a:pPr indent="0" lvl="0" marL="0" marR="0" rtl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>
                <a:srgbClr val="13233A"/>
              </a:buClr>
              <a:buSzPts val="2400"/>
              <a:buFont typeface="IBM Plex Sans"/>
              <a:buNone/>
            </a:pPr>
            <a:r>
              <a:rPr b="1" i="0" lang="en-US" sz="2400" u="none" cap="none" strike="noStrike">
                <a:solidFill>
                  <a:srgbClr val="13233A"/>
                </a:solidFill>
                <a:latin typeface="IBM Plex Sans"/>
                <a:ea typeface="IBM Plex Sans"/>
                <a:cs typeface="IBM Plex Sans"/>
                <a:sym typeface="IBM Plex Sans"/>
              </a:rPr>
              <a:t>Flujo JWT: 401, 403 y 200</a:t>
            </a:r>
            <a:endParaRPr b="0" i="0" sz="2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descr="Diagrama de secuencia de seguridad JWT: login, token válido con 200, sin token con 401, token inválido con 401 y rol insuficiente con 403" id="137" name="Google Shape;137;p5"/>
          <p:cNvPicPr preferRelativeResize="0"/>
          <p:nvPr/>
        </p:nvPicPr>
        <p:blipFill rotWithShape="1">
          <a:blip r:embed="rId3">
            <a:alphaModFix/>
          </a:blip>
          <a:srcRect b="0" l="-33" r="-33" t="0"/>
          <a:stretch/>
        </p:blipFill>
        <p:spPr>
          <a:xfrm>
            <a:off x="5392226" y="0"/>
            <a:ext cx="6799774" cy="6858001"/>
          </a:xfrm>
          <a:prstGeom prst="rect">
            <a:avLst/>
          </a:prstGeom>
          <a:noFill/>
          <a:ln>
            <a:noFill/>
          </a:ln>
        </p:spPr>
      </p:pic>
      <p:sp>
        <p:nvSpPr>
          <p:cNvPr id="138" name="Google Shape;138;p5"/>
          <p:cNvSpPr/>
          <p:nvPr/>
        </p:nvSpPr>
        <p:spPr>
          <a:xfrm>
            <a:off x="248650" y="1479575"/>
            <a:ext cx="525000" cy="386100"/>
          </a:xfrm>
          <a:prstGeom prst="roundRect">
            <a:avLst>
              <a:gd fmla="val 19738" name="adj"/>
            </a:avLst>
          </a:prstGeom>
          <a:solidFill>
            <a:srgbClr val="0E6E6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39" name="Google Shape;139;p5"/>
          <p:cNvSpPr/>
          <p:nvPr/>
        </p:nvSpPr>
        <p:spPr>
          <a:xfrm>
            <a:off x="351969" y="1530375"/>
            <a:ext cx="525000" cy="309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Clr>
                <a:srgbClr val="F5F4EF"/>
              </a:buClr>
              <a:buSzPts val="1600"/>
              <a:buFont typeface="JetBrains Mono"/>
              <a:buNone/>
            </a:pPr>
            <a:r>
              <a:rPr b="1" i="0" lang="en-US" sz="1600" u="none" cap="none" strike="noStrike">
                <a:solidFill>
                  <a:srgbClr val="F5F4EF"/>
                </a:solidFill>
                <a:latin typeface="JetBrains Mono"/>
                <a:ea typeface="JetBrains Mono"/>
                <a:cs typeface="JetBrains Mono"/>
                <a:sym typeface="JetBrains Mono"/>
              </a:rPr>
              <a:t>200</a:t>
            </a:r>
            <a:endParaRPr b="0" i="0" sz="160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40" name="Google Shape;140;p5"/>
          <p:cNvSpPr/>
          <p:nvPr/>
        </p:nvSpPr>
        <p:spPr>
          <a:xfrm>
            <a:off x="856275" y="1552625"/>
            <a:ext cx="4175700" cy="265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35000"/>
              </a:lnSpc>
              <a:spcBef>
                <a:spcPts val="0"/>
              </a:spcBef>
              <a:spcAft>
                <a:spcPts val="0"/>
              </a:spcAft>
              <a:buClr>
                <a:srgbClr val="13233A"/>
              </a:buClr>
              <a:buSzPts val="1400"/>
              <a:buFont typeface="IBM Plex Sans"/>
              <a:buNone/>
            </a:pPr>
            <a:r>
              <a:rPr b="0" i="0" lang="en-US" sz="1400" u="none" cap="none" strike="noStrike">
                <a:solidFill>
                  <a:srgbClr val="13233A"/>
                </a:solidFill>
                <a:latin typeface="IBM Plex Sans"/>
                <a:ea typeface="IBM Plex Sans"/>
                <a:cs typeface="IBM Plex Sans"/>
                <a:sym typeface="IBM Plex Sans"/>
              </a:rPr>
              <a:t>Firma (JWKS), exp e iss válidos, y el rol cumple @PreAuthorize</a:t>
            </a:r>
            <a:endParaRPr b="0" i="0" sz="140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41" name="Google Shape;141;p5"/>
          <p:cNvSpPr/>
          <p:nvPr/>
        </p:nvSpPr>
        <p:spPr>
          <a:xfrm>
            <a:off x="248648" y="2017972"/>
            <a:ext cx="504300" cy="386100"/>
          </a:xfrm>
          <a:prstGeom prst="roundRect">
            <a:avLst>
              <a:gd fmla="val 19738" name="adj"/>
            </a:avLst>
          </a:prstGeom>
          <a:solidFill>
            <a:srgbClr val="B4530F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42" name="Google Shape;142;p5"/>
          <p:cNvSpPr/>
          <p:nvPr/>
        </p:nvSpPr>
        <p:spPr>
          <a:xfrm>
            <a:off x="351970" y="2068775"/>
            <a:ext cx="525000" cy="309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Clr>
                <a:srgbClr val="F5F4EF"/>
              </a:buClr>
              <a:buSzPts val="1600"/>
              <a:buFont typeface="JetBrains Mono"/>
              <a:buNone/>
            </a:pPr>
            <a:r>
              <a:rPr b="1" i="0" lang="en-US" sz="1600" u="none" cap="none" strike="noStrike">
                <a:solidFill>
                  <a:srgbClr val="F5F4EF"/>
                </a:solidFill>
                <a:latin typeface="JetBrains Mono"/>
                <a:ea typeface="JetBrains Mono"/>
                <a:cs typeface="JetBrains Mono"/>
                <a:sym typeface="JetBrains Mono"/>
              </a:rPr>
              <a:t>401</a:t>
            </a:r>
            <a:endParaRPr b="0" i="0" sz="160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43" name="Google Shape;143;p5"/>
          <p:cNvSpPr/>
          <p:nvPr/>
        </p:nvSpPr>
        <p:spPr>
          <a:xfrm>
            <a:off x="876955" y="2091034"/>
            <a:ext cx="3258300" cy="265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35000"/>
              </a:lnSpc>
              <a:spcBef>
                <a:spcPts val="0"/>
              </a:spcBef>
              <a:spcAft>
                <a:spcPts val="0"/>
              </a:spcAft>
              <a:buClr>
                <a:srgbClr val="13233A"/>
              </a:buClr>
              <a:buSzPts val="1400"/>
              <a:buFont typeface="IBM Plex Sans"/>
              <a:buNone/>
            </a:pPr>
            <a:r>
              <a:rPr b="0" i="0" lang="en-US" sz="1400" u="none" cap="none" strike="noStrike">
                <a:solidFill>
                  <a:srgbClr val="13233A"/>
                </a:solidFill>
                <a:latin typeface="IBM Plex Sans"/>
                <a:ea typeface="IBM Plex Sans"/>
                <a:cs typeface="IBM Plex Sans"/>
                <a:sym typeface="IBM Plex Sans"/>
              </a:rPr>
              <a:t>Sin token, malformado, firma alterada o expirado</a:t>
            </a:r>
            <a:endParaRPr b="0" i="0" sz="140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44" name="Google Shape;144;p5"/>
          <p:cNvSpPr/>
          <p:nvPr/>
        </p:nvSpPr>
        <p:spPr>
          <a:xfrm>
            <a:off x="248648" y="2556372"/>
            <a:ext cx="504300" cy="386100"/>
          </a:xfrm>
          <a:prstGeom prst="roundRect">
            <a:avLst>
              <a:gd fmla="val 19738" name="adj"/>
            </a:avLst>
          </a:prstGeom>
          <a:solidFill>
            <a:srgbClr val="8A3A08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45" name="Google Shape;145;p5"/>
          <p:cNvSpPr/>
          <p:nvPr/>
        </p:nvSpPr>
        <p:spPr>
          <a:xfrm>
            <a:off x="351971" y="2607175"/>
            <a:ext cx="504300" cy="309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Clr>
                <a:srgbClr val="F5F4EF"/>
              </a:buClr>
              <a:buSzPts val="1600"/>
              <a:buFont typeface="JetBrains Mono"/>
              <a:buNone/>
            </a:pPr>
            <a:r>
              <a:rPr b="1" i="0" lang="en-US" sz="1600" u="none" cap="none" strike="noStrike">
                <a:solidFill>
                  <a:srgbClr val="F5F4EF"/>
                </a:solidFill>
                <a:latin typeface="JetBrains Mono"/>
                <a:ea typeface="JetBrains Mono"/>
                <a:cs typeface="JetBrains Mono"/>
                <a:sym typeface="JetBrains Mono"/>
              </a:rPr>
              <a:t>403</a:t>
            </a:r>
            <a:endParaRPr b="0" i="0" sz="160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46" name="Google Shape;146;p5"/>
          <p:cNvSpPr/>
          <p:nvPr/>
        </p:nvSpPr>
        <p:spPr>
          <a:xfrm>
            <a:off x="876955" y="2629434"/>
            <a:ext cx="2853600" cy="265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35000"/>
              </a:lnSpc>
              <a:spcBef>
                <a:spcPts val="0"/>
              </a:spcBef>
              <a:spcAft>
                <a:spcPts val="0"/>
              </a:spcAft>
              <a:buClr>
                <a:srgbClr val="13233A"/>
              </a:buClr>
              <a:buSzPts val="1400"/>
              <a:buFont typeface="IBM Plex Sans"/>
              <a:buNone/>
            </a:pPr>
            <a:r>
              <a:rPr b="0" i="0" lang="en-US" sz="1400" u="none" cap="none" strike="noStrike">
                <a:solidFill>
                  <a:srgbClr val="13233A"/>
                </a:solidFill>
                <a:latin typeface="IBM Plex Sans"/>
                <a:ea typeface="IBM Plex Sans"/>
                <a:cs typeface="IBM Plex Sans"/>
                <a:sym typeface="IBM Plex Sans"/>
              </a:rPr>
              <a:t>Token válido, pero el rol no está autorizado</a:t>
            </a:r>
            <a:endParaRPr b="0" i="0" sz="140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47" name="Google Shape;147;p5"/>
          <p:cNvSpPr/>
          <p:nvPr/>
        </p:nvSpPr>
        <p:spPr>
          <a:xfrm>
            <a:off x="127475" y="3551001"/>
            <a:ext cx="5141100" cy="1494900"/>
          </a:xfrm>
          <a:prstGeom prst="roundRect">
            <a:avLst>
              <a:gd fmla="val 8807" name="adj"/>
            </a:avLst>
          </a:prstGeom>
          <a:solidFill>
            <a:srgbClr val="FCFCFA"/>
          </a:solidFill>
          <a:ln cap="flat" cmpd="sng" w="9525">
            <a:solidFill>
              <a:srgbClr val="DEDBD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48" name="Google Shape;148;p5"/>
          <p:cNvSpPr/>
          <p:nvPr/>
        </p:nvSpPr>
        <p:spPr>
          <a:xfrm>
            <a:off x="294873" y="3731377"/>
            <a:ext cx="4950300" cy="4875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Clr>
                <a:srgbClr val="4A5363"/>
              </a:buClr>
              <a:buSzPts val="1300"/>
              <a:buFont typeface="IBM Plex Sans"/>
              <a:buNone/>
            </a:pPr>
            <a:r>
              <a:rPr b="0" i="0" lang="en-US" sz="1300" u="none" cap="none" strike="noStrike">
                <a:solidFill>
                  <a:srgbClr val="4A5363"/>
                </a:solidFill>
                <a:latin typeface="IBM Plex Sans"/>
                <a:ea typeface="IBM Plex Sans"/>
                <a:cs typeface="IBM Plex Sans"/>
                <a:sym typeface="IBM Plex Sans"/>
              </a:rPr>
              <a:t>realm_access.roles se convierte en autoridades de Spring con KeycloakRealmRoleConverter.</a:t>
            </a:r>
            <a:endParaRPr b="0" i="0" sz="130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49" name="Google Shape;149;p5"/>
          <p:cNvSpPr/>
          <p:nvPr/>
        </p:nvSpPr>
        <p:spPr>
          <a:xfrm>
            <a:off x="294873" y="4257055"/>
            <a:ext cx="4950300" cy="2565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Clr>
                <a:srgbClr val="4A5363"/>
              </a:buClr>
              <a:buSzPts val="1300"/>
              <a:buFont typeface="IBM Plex Sans"/>
              <a:buNone/>
            </a:pPr>
            <a:r>
              <a:rPr b="0" i="0" lang="en-US" sz="1300" u="none" cap="none" strike="noStrike">
                <a:solidFill>
                  <a:srgbClr val="4A5363"/>
                </a:solidFill>
                <a:latin typeface="IBM Plex Sans"/>
                <a:ea typeface="IBM Plex Sans"/>
                <a:cs typeface="IBM Plex Sans"/>
                <a:sym typeface="IBM Plex Sans"/>
              </a:rPr>
              <a:t>El JWKS se lee de keycloak:8080, pero el iss debe ser localhost:8080.</a:t>
            </a:r>
            <a:endParaRPr b="0" i="0" sz="130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EAEEF4"/>
        </a:solidFill>
      </p:bgPr>
    </p:bg>
    <p:spTree>
      <p:nvGrpSpPr>
        <p:cNvPr id="154" name="Shape 15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5" name="Google Shape;155;p6"/>
          <p:cNvSpPr/>
          <p:nvPr/>
        </p:nvSpPr>
        <p:spPr>
          <a:xfrm>
            <a:off x="812782" y="1097269"/>
            <a:ext cx="10883429" cy="332708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/>
          <a:p>
            <a:pPr indent="0" lvl="0" marL="0" marR="0" rtl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>
                <a:srgbClr val="13233A"/>
              </a:buClr>
              <a:buSzPts val="2200"/>
              <a:buFont typeface="IBM Plex Sans"/>
              <a:buNone/>
            </a:pPr>
            <a:r>
              <a:rPr b="1" i="0" lang="en-US" sz="2200" u="none" cap="none" strike="noStrike">
                <a:solidFill>
                  <a:srgbClr val="13233A"/>
                </a:solidFill>
                <a:latin typeface="IBM Plex Sans"/>
                <a:ea typeface="IBM Plex Sans"/>
                <a:cs typeface="IBM Plex Sans"/>
                <a:sym typeface="IBM Plex Sans"/>
              </a:rPr>
              <a:t>DEMO · Seguridad: 401, 403 y 200</a:t>
            </a:r>
            <a:endParaRPr b="0" i="0" sz="2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156" name="Google Shape;156;p6" title="01-seguridad.mp4">
            <a:hlinkClick r:id="rId3"/>
          </p:cNvPr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152400" y="1582375"/>
            <a:ext cx="7407398" cy="4166675"/>
          </a:xfrm>
          <a:prstGeom prst="rect">
            <a:avLst/>
          </a:prstGeom>
          <a:noFill/>
          <a:ln>
            <a:noFill/>
          </a:ln>
        </p:spPr>
      </p:pic>
      <p:graphicFrame>
        <p:nvGraphicFramePr>
          <p:cNvPr id="157" name="Google Shape;157;p6"/>
          <p:cNvGraphicFramePr/>
          <p:nvPr/>
        </p:nvGraphicFramePr>
        <p:xfrm>
          <a:off x="7737452" y="1582383"/>
          <a:ext cx="3000000" cy="3000000"/>
        </p:xfrm>
        <a:graphic>
          <a:graphicData uri="http://schemas.openxmlformats.org/drawingml/2006/table">
            <a:tbl>
              <a:tblPr>
                <a:noFill/>
                <a:tableStyleId>{836C93BB-8187-4C30-B8EA-31DB8A4A5036}</a:tableStyleId>
              </a:tblPr>
              <a:tblGrid>
                <a:gridCol w="1106550"/>
                <a:gridCol w="2359600"/>
                <a:gridCol w="885925"/>
              </a:tblGrid>
              <a:tr h="485075"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4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13233A"/>
                        </a:buClr>
                        <a:buSzPts val="1235"/>
                        <a:buFont typeface="IBM Plex Sans"/>
                        <a:buNone/>
                      </a:pPr>
                      <a:r>
                        <a:rPr b="1" lang="en-US" sz="1235" u="none" cap="none" strike="noStrike">
                          <a:solidFill>
                            <a:srgbClr val="13233A"/>
                          </a:solidFill>
                          <a:latin typeface="IBM Plex Sans"/>
                          <a:ea typeface="IBM Plex Sans"/>
                          <a:cs typeface="IBM Plex Sans"/>
                          <a:sym typeface="IBM Plex Sans"/>
                        </a:rPr>
                        <a:t>Caso</a:t>
                      </a:r>
                      <a:endParaRPr sz="1235" u="none" cap="none" strike="noStrike">
                        <a:latin typeface="IBM Plex Sans"/>
                        <a:ea typeface="IBM Plex Sans"/>
                        <a:cs typeface="IBM Plex Sans"/>
                        <a:sym typeface="IBM Plex Sans"/>
                      </a:endParaRPr>
                    </a:p>
                  </a:txBody>
                  <a:tcPr marT="54900" marB="54900" marR="54900" marL="54900">
                    <a:lnL cap="flat" cmpd="sng" w="12700">
                      <a:solidFill>
                        <a:srgbClr val="BBBEC3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AEB1B4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BBBEC3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AEB1B4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D9DDE2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4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13233A"/>
                        </a:buClr>
                        <a:buSzPts val="1235"/>
                        <a:buFont typeface="IBM Plex Sans"/>
                        <a:buNone/>
                      </a:pPr>
                      <a:r>
                        <a:rPr b="1" lang="en-US" sz="1235" u="none" cap="none" strike="noStrike">
                          <a:solidFill>
                            <a:srgbClr val="13233A"/>
                          </a:solidFill>
                          <a:latin typeface="IBM Plex Sans"/>
                          <a:ea typeface="IBM Plex Sans"/>
                          <a:cs typeface="IBM Plex Sans"/>
                          <a:sym typeface="IBM Plex Sans"/>
                        </a:rPr>
                        <a:t>Petición</a:t>
                      </a:r>
                      <a:endParaRPr sz="1235" u="none" cap="none" strike="noStrike">
                        <a:latin typeface="IBM Plex Sans"/>
                        <a:ea typeface="IBM Plex Sans"/>
                        <a:cs typeface="IBM Plex Sans"/>
                        <a:sym typeface="IBM Plex Sans"/>
                      </a:endParaRPr>
                    </a:p>
                  </a:txBody>
                  <a:tcPr marT="54900" marB="54900" marR="54900" marL="54900">
                    <a:lnL cap="flat" cmpd="sng" w="12700">
                      <a:solidFill>
                        <a:srgbClr val="AEB1B4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AEB1B4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BBBEC3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AEB1B4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D9DDE2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4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13233A"/>
                        </a:buClr>
                        <a:buSzPts val="1235"/>
                        <a:buFont typeface="IBM Plex Sans"/>
                        <a:buNone/>
                      </a:pPr>
                      <a:r>
                        <a:rPr b="1" lang="en-US" sz="1235">
                          <a:solidFill>
                            <a:srgbClr val="13233A"/>
                          </a:solidFill>
                          <a:latin typeface="IBM Plex Sans"/>
                          <a:ea typeface="IBM Plex Sans"/>
                          <a:cs typeface="IBM Plex Sans"/>
                          <a:sym typeface="IBM Plex Sans"/>
                        </a:rPr>
                        <a:t>Respuesta</a:t>
                      </a:r>
                      <a:endParaRPr sz="1235" u="none" cap="none" strike="noStrike">
                        <a:latin typeface="IBM Plex Sans"/>
                        <a:ea typeface="IBM Plex Sans"/>
                        <a:cs typeface="IBM Plex Sans"/>
                        <a:sym typeface="IBM Plex Sans"/>
                      </a:endParaRPr>
                    </a:p>
                  </a:txBody>
                  <a:tcPr marT="54900" marB="54900" marR="54900" marL="54900">
                    <a:lnL cap="flat" cmpd="sng" w="12700">
                      <a:solidFill>
                        <a:srgbClr val="AEB1B4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AEB1B4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BBBEC3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AEB1B4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D9DDE2"/>
                    </a:solidFill>
                  </a:tcPr>
                </a:tc>
              </a:tr>
              <a:tr h="485225"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4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13233A"/>
                        </a:buClr>
                        <a:buSzPts val="1235"/>
                        <a:buFont typeface="IBM Plex Sans"/>
                        <a:buNone/>
                      </a:pPr>
                      <a:r>
                        <a:rPr lang="en-US" sz="1235" u="none" cap="none" strike="noStrike">
                          <a:solidFill>
                            <a:srgbClr val="13233A"/>
                          </a:solidFill>
                          <a:latin typeface="IBM Plex Sans"/>
                          <a:ea typeface="IBM Plex Sans"/>
                          <a:cs typeface="IBM Plex Sans"/>
                          <a:sym typeface="IBM Plex Sans"/>
                        </a:rPr>
                        <a:t>Sin token</a:t>
                      </a:r>
                      <a:endParaRPr sz="1235" u="none" cap="none" strike="noStrike">
                        <a:latin typeface="IBM Plex Sans"/>
                        <a:ea typeface="IBM Plex Sans"/>
                        <a:cs typeface="IBM Plex Sans"/>
                        <a:sym typeface="IBM Plex Sans"/>
                      </a:endParaRPr>
                    </a:p>
                  </a:txBody>
                  <a:tcPr marT="54900" marB="54900" marR="54900" marL="54900">
                    <a:lnL cap="flat" cmpd="sng" w="12700">
                      <a:solidFill>
                        <a:srgbClr val="BBBEC3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BBBEC3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AEB1B4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BBBEC3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4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13233A"/>
                        </a:buClr>
                        <a:buSzPts val="1235"/>
                        <a:buFont typeface="IBM Plex Sans"/>
                        <a:buNone/>
                      </a:pPr>
                      <a:r>
                        <a:rPr lang="en-US" sz="1235" u="none" cap="none" strike="noStrike">
                          <a:solidFill>
                            <a:srgbClr val="13233A"/>
                          </a:solidFill>
                          <a:latin typeface="IBM Plex Sans"/>
                          <a:ea typeface="IBM Plex Sans"/>
                          <a:cs typeface="IBM Plex Sans"/>
                          <a:sym typeface="IBM Plex Sans"/>
                        </a:rPr>
                        <a:t>GET :8081/api/miembros</a:t>
                      </a:r>
                      <a:endParaRPr sz="1235" u="none" cap="none" strike="noStrike">
                        <a:latin typeface="IBM Plex Sans"/>
                        <a:ea typeface="IBM Plex Sans"/>
                        <a:cs typeface="IBM Plex Sans"/>
                        <a:sym typeface="IBM Plex Sans"/>
                      </a:endParaRPr>
                    </a:p>
                  </a:txBody>
                  <a:tcPr marT="54900" marB="54900" marR="54900" marL="54900">
                    <a:lnL cap="flat" cmpd="sng" w="12700">
                      <a:solidFill>
                        <a:srgbClr val="BBBEC3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BBBEC3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AEB1B4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BBBEC3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4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13233A"/>
                        </a:buClr>
                        <a:buSzPts val="1235"/>
                        <a:buFont typeface="IBM Plex Sans"/>
                        <a:buNone/>
                      </a:pPr>
                      <a:r>
                        <a:rPr lang="en-US" sz="1235" u="none" cap="none" strike="noStrike">
                          <a:solidFill>
                            <a:srgbClr val="13233A"/>
                          </a:solidFill>
                          <a:latin typeface="IBM Plex Sans"/>
                          <a:ea typeface="IBM Plex Sans"/>
                          <a:cs typeface="IBM Plex Sans"/>
                          <a:sym typeface="IBM Plex Sans"/>
                        </a:rPr>
                        <a:t>401</a:t>
                      </a:r>
                      <a:endParaRPr sz="1235" u="none" cap="none" strike="noStrike">
                        <a:latin typeface="IBM Plex Sans"/>
                        <a:ea typeface="IBM Plex Sans"/>
                        <a:cs typeface="IBM Plex Sans"/>
                        <a:sym typeface="IBM Plex Sans"/>
                      </a:endParaRPr>
                    </a:p>
                  </a:txBody>
                  <a:tcPr marT="54900" marB="54900" marR="54900" marL="54900">
                    <a:lnL cap="flat" cmpd="sng" w="12700">
                      <a:solidFill>
                        <a:srgbClr val="BBBEC3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BBBEC3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AEB1B4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BBBEC3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799100"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4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13233A"/>
                        </a:buClr>
                        <a:buSzPts val="1235"/>
                        <a:buFont typeface="IBM Plex Sans"/>
                        <a:buNone/>
                      </a:pPr>
                      <a:r>
                        <a:rPr lang="en-US" sz="1235" u="none" cap="none" strike="noStrike">
                          <a:solidFill>
                            <a:srgbClr val="13233A"/>
                          </a:solidFill>
                          <a:latin typeface="IBM Plex Sans"/>
                          <a:ea typeface="IBM Plex Sans"/>
                          <a:cs typeface="IBM Plex Sans"/>
                          <a:sym typeface="IBM Plex Sans"/>
                        </a:rPr>
                        <a:t>Token malformado</a:t>
                      </a:r>
                      <a:endParaRPr sz="1235" u="none" cap="none" strike="noStrike">
                        <a:latin typeface="IBM Plex Sans"/>
                        <a:ea typeface="IBM Plex Sans"/>
                        <a:cs typeface="IBM Plex Sans"/>
                        <a:sym typeface="IBM Plex Sans"/>
                      </a:endParaRPr>
                    </a:p>
                  </a:txBody>
                  <a:tcPr marT="54900" marB="54900" marR="54900" marL="54900">
                    <a:lnL cap="flat" cmpd="sng" w="12700">
                      <a:solidFill>
                        <a:srgbClr val="BBBEC3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BBBEC3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BBBEC3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BBBEC3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4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13233A"/>
                        </a:buClr>
                        <a:buSzPts val="1235"/>
                        <a:buFont typeface="IBM Plex Sans"/>
                        <a:buNone/>
                      </a:pPr>
                      <a:r>
                        <a:rPr lang="en-US" sz="1235" u="none" cap="none" strike="noStrike">
                          <a:solidFill>
                            <a:srgbClr val="13233A"/>
                          </a:solidFill>
                          <a:latin typeface="IBM Plex Sans"/>
                          <a:ea typeface="IBM Plex Sans"/>
                          <a:cs typeface="IBM Plex Sans"/>
                          <a:sym typeface="IBM Plex Sans"/>
                        </a:rPr>
                        <a:t>Bearer abc.def.ghi</a:t>
                      </a:r>
                      <a:endParaRPr sz="1235" u="none" cap="none" strike="noStrike">
                        <a:latin typeface="IBM Plex Sans"/>
                        <a:ea typeface="IBM Plex Sans"/>
                        <a:cs typeface="IBM Plex Sans"/>
                        <a:sym typeface="IBM Plex Sans"/>
                      </a:endParaRPr>
                    </a:p>
                  </a:txBody>
                  <a:tcPr marT="54900" marB="54900" marR="54900" marL="54900">
                    <a:lnL cap="flat" cmpd="sng" w="12700">
                      <a:solidFill>
                        <a:srgbClr val="BBBEC3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BBBEC3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BBBEC3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BBBEC3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4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13233A"/>
                        </a:buClr>
                        <a:buSzPts val="1235"/>
                        <a:buFont typeface="IBM Plex Sans"/>
                        <a:buNone/>
                      </a:pPr>
                      <a:r>
                        <a:rPr lang="en-US" sz="1235" u="none" cap="none" strike="noStrike">
                          <a:solidFill>
                            <a:srgbClr val="13233A"/>
                          </a:solidFill>
                          <a:latin typeface="IBM Plex Sans"/>
                          <a:ea typeface="IBM Plex Sans"/>
                          <a:cs typeface="IBM Plex Sans"/>
                          <a:sym typeface="IBM Plex Sans"/>
                        </a:rPr>
                        <a:t>401 </a:t>
                      </a:r>
                      <a:endParaRPr sz="1235" u="none" cap="none" strike="noStrike">
                        <a:latin typeface="IBM Plex Sans"/>
                        <a:ea typeface="IBM Plex Sans"/>
                        <a:cs typeface="IBM Plex Sans"/>
                        <a:sym typeface="IBM Plex Sans"/>
                      </a:endParaRPr>
                    </a:p>
                  </a:txBody>
                  <a:tcPr marT="54900" marB="54900" marR="54900" marL="54900">
                    <a:lnL cap="flat" cmpd="sng" w="12700">
                      <a:solidFill>
                        <a:srgbClr val="BBBEC3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BBBEC3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BBBEC3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BBBEC3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799100"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4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13233A"/>
                        </a:buClr>
                        <a:buSzPts val="1235"/>
                        <a:buFont typeface="IBM Plex Sans"/>
                        <a:buNone/>
                      </a:pPr>
                      <a:r>
                        <a:rPr lang="en-US" sz="1235" u="none" cap="none" strike="noStrike">
                          <a:solidFill>
                            <a:srgbClr val="13233A"/>
                          </a:solidFill>
                          <a:latin typeface="IBM Plex Sans"/>
                          <a:ea typeface="IBM Plex Sans"/>
                          <a:cs typeface="IBM Plex Sans"/>
                          <a:sym typeface="IBM Plex Sans"/>
                        </a:rPr>
                        <a:t>Rol insuficiente</a:t>
                      </a:r>
                      <a:endParaRPr sz="1235" u="none" cap="none" strike="noStrike">
                        <a:latin typeface="IBM Plex Sans"/>
                        <a:ea typeface="IBM Plex Sans"/>
                        <a:cs typeface="IBM Plex Sans"/>
                        <a:sym typeface="IBM Plex Sans"/>
                      </a:endParaRPr>
                    </a:p>
                  </a:txBody>
                  <a:tcPr marT="54900" marB="54900" marR="54900" marL="54900">
                    <a:lnL cap="flat" cmpd="sng" w="12700">
                      <a:solidFill>
                        <a:srgbClr val="BBBEC3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BBBEC3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BBBEC3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BBBEC3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4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13233A"/>
                        </a:buClr>
                        <a:buSzPts val="1235"/>
                        <a:buFont typeface="IBM Plex Sans"/>
                        <a:buNone/>
                      </a:pPr>
                      <a:r>
                        <a:rPr lang="en-US" sz="1235" u="none" cap="none" strike="noStrike">
                          <a:solidFill>
                            <a:srgbClr val="13233A"/>
                          </a:solidFill>
                          <a:latin typeface="IBM Plex Sans"/>
                          <a:ea typeface="IBM Plex Sans"/>
                          <a:cs typeface="IBM Plex Sans"/>
                          <a:sym typeface="IBM Plex Sans"/>
                        </a:rPr>
                        <a:t>MEMBER en GET :8081/api/miembros</a:t>
                      </a:r>
                      <a:endParaRPr sz="1235" u="none" cap="none" strike="noStrike">
                        <a:latin typeface="IBM Plex Sans"/>
                        <a:ea typeface="IBM Plex Sans"/>
                        <a:cs typeface="IBM Plex Sans"/>
                        <a:sym typeface="IBM Plex Sans"/>
                      </a:endParaRPr>
                    </a:p>
                  </a:txBody>
                  <a:tcPr marT="54900" marB="54900" marR="54900" marL="54900">
                    <a:lnL cap="flat" cmpd="sng" w="12700">
                      <a:solidFill>
                        <a:srgbClr val="BBBEC3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BBBEC3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BBBEC3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BBBEC3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4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13233A"/>
                        </a:buClr>
                        <a:buSzPts val="1235"/>
                        <a:buFont typeface="IBM Plex Sans"/>
                        <a:buNone/>
                      </a:pPr>
                      <a:r>
                        <a:rPr lang="en-US" sz="1235" u="none" cap="none" strike="noStrike">
                          <a:solidFill>
                            <a:srgbClr val="13233A"/>
                          </a:solidFill>
                          <a:latin typeface="IBM Plex Sans"/>
                          <a:ea typeface="IBM Plex Sans"/>
                          <a:cs typeface="IBM Plex Sans"/>
                          <a:sym typeface="IBM Plex Sans"/>
                        </a:rPr>
                        <a:t>403</a:t>
                      </a:r>
                      <a:endParaRPr sz="1235" u="none" cap="none" strike="noStrike">
                        <a:latin typeface="IBM Plex Sans"/>
                        <a:ea typeface="IBM Plex Sans"/>
                        <a:cs typeface="IBM Plex Sans"/>
                        <a:sym typeface="IBM Plex Sans"/>
                      </a:endParaRPr>
                    </a:p>
                  </a:txBody>
                  <a:tcPr marT="54900" marB="54900" marR="54900" marL="54900">
                    <a:lnL cap="flat" cmpd="sng" w="12700">
                      <a:solidFill>
                        <a:srgbClr val="BBBEC3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BBBEC3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BBBEC3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BBBEC3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799100"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4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13233A"/>
                        </a:buClr>
                        <a:buSzPts val="1235"/>
                        <a:buFont typeface="IBM Plex Sans"/>
                        <a:buNone/>
                      </a:pPr>
                      <a:r>
                        <a:rPr lang="en-US" sz="1235" u="none" cap="none" strike="noStrike">
                          <a:solidFill>
                            <a:srgbClr val="13233A"/>
                          </a:solidFill>
                          <a:latin typeface="IBM Plex Sans"/>
                          <a:ea typeface="IBM Plex Sans"/>
                          <a:cs typeface="IBM Plex Sans"/>
                          <a:sym typeface="IBM Plex Sans"/>
                        </a:rPr>
                        <a:t>Rol correcto</a:t>
                      </a:r>
                      <a:endParaRPr sz="1235" u="none" cap="none" strike="noStrike">
                        <a:latin typeface="IBM Plex Sans"/>
                        <a:ea typeface="IBM Plex Sans"/>
                        <a:cs typeface="IBM Plex Sans"/>
                        <a:sym typeface="IBM Plex Sans"/>
                      </a:endParaRPr>
                    </a:p>
                  </a:txBody>
                  <a:tcPr marT="54900" marB="54900" marR="54900" marL="54900">
                    <a:lnL cap="flat" cmpd="sng" w="12700">
                      <a:solidFill>
                        <a:srgbClr val="BBBEC3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BBBEC3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BBBEC3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BBBEC3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4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13233A"/>
                        </a:buClr>
                        <a:buSzPts val="1235"/>
                        <a:buFont typeface="IBM Plex Sans"/>
                        <a:buNone/>
                      </a:pPr>
                      <a:r>
                        <a:rPr lang="en-US" sz="1235" u="none" cap="none" strike="noStrike">
                          <a:solidFill>
                            <a:srgbClr val="13233A"/>
                          </a:solidFill>
                          <a:latin typeface="IBM Plex Sans"/>
                          <a:ea typeface="IBM Plex Sans"/>
                          <a:cs typeface="IBM Plex Sans"/>
                          <a:sym typeface="IBM Plex Sans"/>
                        </a:rPr>
                        <a:t>TRAINER en GET :8081/api/miembros</a:t>
                      </a:r>
                      <a:endParaRPr sz="1235" u="none" cap="none" strike="noStrike">
                        <a:latin typeface="IBM Plex Sans"/>
                        <a:ea typeface="IBM Plex Sans"/>
                        <a:cs typeface="IBM Plex Sans"/>
                        <a:sym typeface="IBM Plex Sans"/>
                      </a:endParaRPr>
                    </a:p>
                  </a:txBody>
                  <a:tcPr marT="54900" marB="54900" marR="54900" marL="54900">
                    <a:lnL cap="flat" cmpd="sng" w="12700">
                      <a:solidFill>
                        <a:srgbClr val="BBBEC3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BBBEC3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BBBEC3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BBBEC3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4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13233A"/>
                        </a:buClr>
                        <a:buSzPts val="1235"/>
                        <a:buFont typeface="IBM Plex Sans"/>
                        <a:buNone/>
                      </a:pPr>
                      <a:r>
                        <a:rPr lang="en-US" sz="1235" u="none" cap="none" strike="noStrike">
                          <a:solidFill>
                            <a:srgbClr val="13233A"/>
                          </a:solidFill>
                          <a:latin typeface="IBM Plex Sans"/>
                          <a:ea typeface="IBM Plex Sans"/>
                          <a:cs typeface="IBM Plex Sans"/>
                          <a:sym typeface="IBM Plex Sans"/>
                        </a:rPr>
                        <a:t>200</a:t>
                      </a:r>
                      <a:endParaRPr sz="1235" u="none" cap="none" strike="noStrike">
                        <a:latin typeface="IBM Plex Sans"/>
                        <a:ea typeface="IBM Plex Sans"/>
                        <a:cs typeface="IBM Plex Sans"/>
                        <a:sym typeface="IBM Plex Sans"/>
                      </a:endParaRPr>
                    </a:p>
                  </a:txBody>
                  <a:tcPr marT="54900" marB="54900" marR="54900" marL="54900">
                    <a:lnL cap="flat" cmpd="sng" w="12700">
                      <a:solidFill>
                        <a:srgbClr val="BBBEC3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BBBEC3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BBBEC3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BBBEC3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799100"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4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13233A"/>
                        </a:buClr>
                        <a:buSzPts val="1235"/>
                        <a:buFont typeface="IBM Plex Sans"/>
                        <a:buNone/>
                      </a:pPr>
                      <a:r>
                        <a:rPr lang="en-US" sz="1235" u="none" cap="none" strike="noStrike">
                          <a:solidFill>
                            <a:srgbClr val="13233A"/>
                          </a:solidFill>
                          <a:latin typeface="IBM Plex Sans"/>
                          <a:ea typeface="IBM Plex Sans"/>
                          <a:cs typeface="IBM Plex Sans"/>
                          <a:sym typeface="IBM Plex Sans"/>
                        </a:rPr>
                        <a:t>JWT propagado</a:t>
                      </a:r>
                      <a:endParaRPr sz="1235" u="none" cap="none" strike="noStrike">
                        <a:latin typeface="IBM Plex Sans"/>
                        <a:ea typeface="IBM Plex Sans"/>
                        <a:cs typeface="IBM Plex Sans"/>
                        <a:sym typeface="IBM Plex Sans"/>
                      </a:endParaRPr>
                    </a:p>
                  </a:txBody>
                  <a:tcPr marT="54900" marB="54900" marR="54900" marL="54900">
                    <a:lnL cap="flat" cmpd="sng" w="12700">
                      <a:solidFill>
                        <a:srgbClr val="BBBEC3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BBBEC3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BBBEC3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BBBEC3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4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13233A"/>
                        </a:buClr>
                        <a:buSzPts val="1235"/>
                        <a:buFont typeface="IBM Plex Sans"/>
                        <a:buNone/>
                      </a:pPr>
                      <a:r>
                        <a:rPr lang="en-US" sz="1235" u="none" cap="none" strike="noStrike">
                          <a:solidFill>
                            <a:srgbClr val="13233A"/>
                          </a:solidFill>
                          <a:latin typeface="IBM Plex Sans"/>
                          <a:ea typeface="IBM Plex Sans"/>
                          <a:cs typeface="IBM Plex Sans"/>
                          <a:sym typeface="IBM Plex Sans"/>
                        </a:rPr>
                        <a:t>MEMBER en GET :8082/api/clases/1/entrenador</a:t>
                      </a:r>
                      <a:endParaRPr sz="1235" u="none" cap="none" strike="noStrike">
                        <a:latin typeface="IBM Plex Sans"/>
                        <a:ea typeface="IBM Plex Sans"/>
                        <a:cs typeface="IBM Plex Sans"/>
                        <a:sym typeface="IBM Plex Sans"/>
                      </a:endParaRPr>
                    </a:p>
                  </a:txBody>
                  <a:tcPr marT="54900" marB="54900" marR="54900" marL="54900">
                    <a:lnL cap="flat" cmpd="sng" w="12700">
                      <a:solidFill>
                        <a:srgbClr val="BBBEC3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BBBEC3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BBBEC3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BBBEC3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4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13233A"/>
                        </a:buClr>
                        <a:buSzPts val="1235"/>
                        <a:buFont typeface="IBM Plex Sans"/>
                        <a:buNone/>
                      </a:pPr>
                      <a:r>
                        <a:rPr lang="en-US" sz="1235" u="none" cap="none" strike="noStrike">
                          <a:solidFill>
                            <a:srgbClr val="13233A"/>
                          </a:solidFill>
                          <a:latin typeface="IBM Plex Sans"/>
                          <a:ea typeface="IBM Plex Sans"/>
                          <a:cs typeface="IBM Plex Sans"/>
                          <a:sym typeface="IBM Plex Sans"/>
                        </a:rPr>
                        <a:t>200</a:t>
                      </a:r>
                      <a:endParaRPr sz="1235" u="none" cap="none" strike="noStrike">
                        <a:latin typeface="IBM Plex Sans"/>
                        <a:ea typeface="IBM Plex Sans"/>
                        <a:cs typeface="IBM Plex Sans"/>
                        <a:sym typeface="IBM Plex Sans"/>
                      </a:endParaRPr>
                    </a:p>
                  </a:txBody>
                  <a:tcPr marT="54900" marB="54900" marR="54900" marL="54900">
                    <a:lnL cap="flat" cmpd="sng" w="12700">
                      <a:solidFill>
                        <a:srgbClr val="BBBEC3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BBBEC3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BBBEC3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BBBEC3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</a:tbl>
          </a:graphicData>
        </a:graphic>
      </p:graphicFrame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with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1000"/>
                                        <p:tgtEl>
                                          <p:spTgt spid="15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5F4EF"/>
        </a:solidFill>
      </p:bgPr>
    </p:bg>
    <p:spTree>
      <p:nvGrpSpPr>
        <p:cNvPr id="162" name="Shape 16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3" name="Google Shape;163;p7"/>
          <p:cNvSpPr/>
          <p:nvPr/>
        </p:nvSpPr>
        <p:spPr>
          <a:xfrm>
            <a:off x="609564" y="633106"/>
            <a:ext cx="6628202" cy="360579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/>
          <a:p>
            <a:pPr indent="0" lvl="0" marL="0" marR="0" rtl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>
                <a:srgbClr val="13233A"/>
              </a:buClr>
              <a:buSzPts val="2400"/>
              <a:buFont typeface="IBM Plex Sans"/>
              <a:buNone/>
            </a:pPr>
            <a:r>
              <a:rPr b="1" i="0" lang="en-US" sz="2400" u="none" cap="none" strike="noStrike">
                <a:solidFill>
                  <a:srgbClr val="13233A"/>
                </a:solidFill>
                <a:latin typeface="IBM Plex Sans"/>
                <a:ea typeface="IBM Plex Sans"/>
                <a:cs typeface="IBM Plex Sans"/>
                <a:sym typeface="IBM Plex Sans"/>
              </a:rPr>
              <a:t>RabbitMQ: notificación, pub/sub y dead letter</a:t>
            </a:r>
            <a:endParaRPr b="0" i="0" sz="2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64" name="Google Shape;164;p7"/>
          <p:cNvSpPr/>
          <p:nvPr/>
        </p:nvSpPr>
        <p:spPr>
          <a:xfrm>
            <a:off x="810184" y="1098457"/>
            <a:ext cx="10571541" cy="5123259"/>
          </a:xfrm>
          <a:prstGeom prst="roundRect">
            <a:avLst>
              <a:gd fmla="val 1921" name="adj"/>
            </a:avLst>
          </a:prstGeom>
          <a:solidFill>
            <a:srgbClr val="FFFFFF"/>
          </a:solidFill>
          <a:ln cap="flat" cmpd="sng" w="9525">
            <a:solidFill>
              <a:srgbClr val="DEDBD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descr="Topología de RabbitMQ: productores, exchanges membresias, programacion, pagos y pagos.dlx, bindings, colas y consumidores" id="165" name="Google Shape;165;p7"/>
          <p:cNvPicPr preferRelativeResize="0"/>
          <p:nvPr/>
        </p:nvPicPr>
        <p:blipFill rotWithShape="1">
          <a:blip r:embed="rId3">
            <a:alphaModFix/>
          </a:blip>
          <a:srcRect b="-62" l="0" r="0" t="-62"/>
          <a:stretch/>
        </p:blipFill>
        <p:spPr>
          <a:xfrm>
            <a:off x="863564" y="1151837"/>
            <a:ext cx="10464781" cy="50165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6ECE3"/>
        </a:solidFill>
      </p:bgPr>
    </p:bg>
    <p:spTree>
      <p:nvGrpSpPr>
        <p:cNvPr id="170" name="Shape 17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1" name="Google Shape;171;p8"/>
          <p:cNvSpPr/>
          <p:nvPr/>
        </p:nvSpPr>
        <p:spPr>
          <a:xfrm>
            <a:off x="812782" y="1097269"/>
            <a:ext cx="10883429" cy="332708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/>
          <a:p>
            <a:pPr indent="0" lvl="0" marL="0" marR="0" rtl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>
                <a:srgbClr val="13233A"/>
              </a:buClr>
              <a:buSzPts val="2200"/>
              <a:buFont typeface="IBM Plex Sans"/>
              <a:buNone/>
            </a:pPr>
            <a:r>
              <a:rPr b="1" i="0" lang="en-US" sz="2200" u="none" cap="none" strike="noStrike">
                <a:solidFill>
                  <a:srgbClr val="13233A"/>
                </a:solidFill>
                <a:latin typeface="IBM Plex Sans"/>
                <a:ea typeface="IBM Plex Sans"/>
                <a:cs typeface="IBM Plex Sans"/>
                <a:sym typeface="IBM Plex Sans"/>
              </a:rPr>
              <a:t>DEMO · Inscripción y cambio de horario</a:t>
            </a:r>
            <a:endParaRPr b="0" i="0" sz="2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72" name="Google Shape;172;p8"/>
          <p:cNvSpPr/>
          <p:nvPr/>
        </p:nvSpPr>
        <p:spPr>
          <a:xfrm>
            <a:off x="8445409" y="1582359"/>
            <a:ext cx="2933628" cy="4178282"/>
          </a:xfrm>
          <a:prstGeom prst="roundRect">
            <a:avLst>
              <a:gd fmla="val 3463" name="adj"/>
            </a:avLst>
          </a:prstGeom>
          <a:solidFill>
            <a:srgbClr val="13233A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73" name="Google Shape;173;p8"/>
          <p:cNvSpPr/>
          <p:nvPr/>
        </p:nvSpPr>
        <p:spPr>
          <a:xfrm>
            <a:off x="8635909" y="1760141"/>
            <a:ext cx="2629207" cy="220951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/>
          <a:p>
            <a:pPr indent="0" lvl="0" marL="0" marR="0" rtl="0" algn="l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Clr>
                <a:srgbClr val="F2A65A"/>
              </a:buClr>
              <a:buSzPts val="1100"/>
              <a:buFont typeface="JetBrains Mono"/>
              <a:buNone/>
            </a:pPr>
            <a:r>
              <a:rPr b="0" i="0" lang="en-US" sz="1100" u="none" cap="none" strike="noStrike">
                <a:solidFill>
                  <a:srgbClr val="F2A65A"/>
                </a:solidFill>
                <a:latin typeface="JetBrains Mono"/>
                <a:ea typeface="JetBrains Mono"/>
                <a:cs typeface="JetBrains Mono"/>
                <a:sym typeface="JetBrains Mono"/>
              </a:rPr>
              <a:t>QUÉ MUESTRA EL VIDEO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74" name="Google Shape;174;p8"/>
          <p:cNvSpPr/>
          <p:nvPr/>
        </p:nvSpPr>
        <p:spPr>
          <a:xfrm>
            <a:off x="8635909" y="2069976"/>
            <a:ext cx="2629207" cy="452221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/>
          <a:p>
            <a:pPr indent="0" lvl="0" marL="0" marR="0" rtl="0" algn="l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Clr>
                <a:srgbClr val="E4E9EF"/>
              </a:buClr>
              <a:buSzPts val="1200"/>
              <a:buFont typeface="IBM Plex Sans"/>
              <a:buNone/>
            </a:pPr>
            <a:r>
              <a:rPr b="0" i="0" lang="en-US" sz="1200" u="none" cap="none" strike="noStrike">
                <a:solidFill>
                  <a:srgbClr val="E4E9EF"/>
                </a:solidFill>
                <a:latin typeface="IBM Plex Sans"/>
                <a:ea typeface="IBM Plex Sans"/>
                <a:cs typeface="IBM Plex Sans"/>
                <a:sym typeface="IBM Plex Sans"/>
              </a:rPr>
              <a:t>1 · POST /api/miembros → notificación de inscripción registrada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75" name="Google Shape;175;p8"/>
          <p:cNvSpPr/>
          <p:nvPr/>
        </p:nvSpPr>
        <p:spPr>
          <a:xfrm>
            <a:off x="8635909" y="2611078"/>
            <a:ext cx="2629207" cy="665632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/>
          <a:p>
            <a:pPr indent="0" lvl="0" marL="0" marR="0" rtl="0" algn="l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Clr>
                <a:srgbClr val="E4E9EF"/>
              </a:buClr>
              <a:buSzPts val="1200"/>
              <a:buFont typeface="IBM Plex Sans"/>
              <a:buNone/>
            </a:pPr>
            <a:r>
              <a:rPr b="0" i="0" lang="en-US" sz="1200" u="none" cap="none" strike="noStrike">
                <a:solidFill>
                  <a:srgbClr val="E4E9EF"/>
                </a:solidFill>
                <a:latin typeface="IBM Plex Sans"/>
                <a:ea typeface="IBM Plex Sans"/>
                <a:cs typeface="IBM Plex Sans"/>
                <a:sym typeface="IBM Plex Sans"/>
              </a:rPr>
              <a:t>2 · PATCH /api/clases/1/horario → aviso en ms-personal, sin llamada REST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76" name="Google Shape;176;p8"/>
          <p:cNvSpPr/>
          <p:nvPr/>
        </p:nvSpPr>
        <p:spPr>
          <a:xfrm>
            <a:off x="8635909" y="3365590"/>
            <a:ext cx="2629207" cy="452221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/>
          <a:p>
            <a:pPr indent="0" lvl="0" marL="0" marR="0" rtl="0" algn="l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Clr>
                <a:srgbClr val="E4E9EF"/>
              </a:buClr>
              <a:buSzPts val="1200"/>
              <a:buFont typeface="IBM Plex Sans"/>
              <a:buNone/>
            </a:pPr>
            <a:r>
              <a:rPr b="0" i="0" lang="en-US" sz="1200" u="none" cap="none" strike="noStrike">
                <a:solidFill>
                  <a:srgbClr val="E4E9EF"/>
                </a:solidFill>
                <a:latin typeface="IBM Plex Sans"/>
                <a:ea typeface="IBM Plex Sans"/>
                <a:cs typeface="IBM Plex Sans"/>
                <a:sym typeface="IBM Plex Sans"/>
              </a:rPr>
              <a:t>3 · Consola de RabbitMQ: ambas colas suben una entrega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177" name="Google Shape;177;p8" title="02-rabbitmq-flujos.mp4">
            <a:hlinkClick r:id="rId3"/>
          </p:cNvPr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152400" y="1582377"/>
            <a:ext cx="8140608" cy="4579092"/>
          </a:xfrm>
          <a:prstGeom prst="rect">
            <a:avLst/>
          </a:prstGeom>
          <a:noFill/>
          <a:ln>
            <a:noFill/>
          </a:ln>
          <a:effectLst>
            <a:outerShdw blurRad="57150" rotWithShape="0" algn="bl" dir="5400000" dist="19050">
              <a:srgbClr val="000000">
                <a:alpha val="50000"/>
              </a:srgbClr>
            </a:outerShdw>
          </a:effectLst>
        </p:spPr>
      </p:pic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with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1000"/>
                                        <p:tgtEl>
                                          <p:spTgt spid="17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6ECE3"/>
        </a:solidFill>
      </p:bgPr>
    </p:bg>
    <p:spTree>
      <p:nvGrpSpPr>
        <p:cNvPr id="182" name="Shape 18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3" name="Google Shape;183;p9"/>
          <p:cNvSpPr/>
          <p:nvPr/>
        </p:nvSpPr>
        <p:spPr>
          <a:xfrm>
            <a:off x="812782" y="1097266"/>
            <a:ext cx="10883429" cy="332708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/>
          <a:p>
            <a:pPr indent="0" lvl="0" marL="0" marR="0" rtl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>
                <a:srgbClr val="13233A"/>
              </a:buClr>
              <a:buSzPts val="2200"/>
              <a:buFont typeface="IBM Plex Sans"/>
              <a:buNone/>
            </a:pPr>
            <a:r>
              <a:rPr b="1" i="0" lang="en-US" sz="2200" u="none" cap="none" strike="noStrike">
                <a:solidFill>
                  <a:srgbClr val="13233A"/>
                </a:solidFill>
                <a:latin typeface="IBM Plex Sans"/>
                <a:ea typeface="IBM Plex Sans"/>
                <a:cs typeface="IBM Plex Sans"/>
                <a:sym typeface="IBM Plex Sans"/>
              </a:rPr>
              <a:t>DEMO · Pago fallido → Dead Letter Queue</a:t>
            </a:r>
            <a:endParaRPr b="0" i="0" sz="2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84" name="Google Shape;184;p9"/>
          <p:cNvSpPr/>
          <p:nvPr/>
        </p:nvSpPr>
        <p:spPr>
          <a:xfrm>
            <a:off x="8445409" y="1582359"/>
            <a:ext cx="2933628" cy="4178282"/>
          </a:xfrm>
          <a:prstGeom prst="roundRect">
            <a:avLst>
              <a:gd fmla="val 3463" name="adj"/>
            </a:avLst>
          </a:prstGeom>
          <a:solidFill>
            <a:srgbClr val="13233A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85" name="Google Shape;185;p9"/>
          <p:cNvSpPr/>
          <p:nvPr/>
        </p:nvSpPr>
        <p:spPr>
          <a:xfrm>
            <a:off x="8635909" y="1760141"/>
            <a:ext cx="2629207" cy="220951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/>
          <a:p>
            <a:pPr indent="0" lvl="0" marL="0" marR="0" rtl="0" algn="l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Clr>
                <a:srgbClr val="F2A65A"/>
              </a:buClr>
              <a:buSzPts val="1100"/>
              <a:buFont typeface="JetBrains Mono"/>
              <a:buNone/>
            </a:pPr>
            <a:r>
              <a:rPr b="0" i="0" lang="en-US" sz="1100" u="none" cap="none" strike="noStrike">
                <a:solidFill>
                  <a:srgbClr val="F2A65A"/>
                </a:solidFill>
                <a:latin typeface="JetBrains Mono"/>
                <a:ea typeface="JetBrains Mono"/>
                <a:cs typeface="JetBrains Mono"/>
                <a:sym typeface="JetBrains Mono"/>
              </a:rPr>
              <a:t>QUÉ MUESTRA EL VIDEO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86" name="Google Shape;186;p9"/>
          <p:cNvSpPr/>
          <p:nvPr/>
        </p:nvSpPr>
        <p:spPr>
          <a:xfrm>
            <a:off x="8635909" y="2069970"/>
            <a:ext cx="2629207" cy="23881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/>
          <a:p>
            <a:pPr indent="0" lvl="0" marL="0" marR="0" rtl="0" algn="l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Clr>
                <a:srgbClr val="8FD6B4"/>
              </a:buClr>
              <a:buSzPts val="1200"/>
              <a:buFont typeface="IBM Plex Sans"/>
              <a:buNone/>
            </a:pPr>
            <a:r>
              <a:rPr b="0" i="0" lang="en-US" sz="1200" u="none" cap="none" strike="noStrike">
                <a:solidFill>
                  <a:srgbClr val="8FD6B4"/>
                </a:solidFill>
                <a:latin typeface="IBM Plex Sans"/>
                <a:ea typeface="IBM Plex Sans"/>
                <a:cs typeface="IBM Plex Sans"/>
                <a:sym typeface="IBM Plex Sans"/>
              </a:rPr>
              <a:t>monto 50000 → pago procesado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87" name="Google Shape;187;p9"/>
          <p:cNvSpPr/>
          <p:nvPr/>
        </p:nvSpPr>
        <p:spPr>
          <a:xfrm>
            <a:off x="8635909" y="2397665"/>
            <a:ext cx="2629207" cy="23881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/>
          <a:p>
            <a:pPr indent="0" lvl="0" marL="0" marR="0" rtl="0" algn="l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Clr>
                <a:srgbClr val="F4B183"/>
              </a:buClr>
              <a:buSzPts val="1200"/>
              <a:buFont typeface="IBM Plex Sans"/>
              <a:buNone/>
            </a:pPr>
            <a:r>
              <a:rPr b="0" i="0" lang="en-US" sz="1200" u="none" cap="none" strike="noStrike">
                <a:solidFill>
                  <a:srgbClr val="F4B183"/>
                </a:solidFill>
                <a:latin typeface="IBM Plex Sans"/>
                <a:ea typeface="IBM Plex Sans"/>
                <a:cs typeface="IBM Plex Sans"/>
                <a:sym typeface="IBM Plex Sans"/>
              </a:rPr>
              <a:t>monto -10 → rechazo sin reencolar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88" name="Google Shape;188;p9"/>
          <p:cNvSpPr/>
          <p:nvPr/>
        </p:nvSpPr>
        <p:spPr>
          <a:xfrm>
            <a:off x="8635909" y="2725359"/>
            <a:ext cx="2629207" cy="23881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/>
          <a:p>
            <a:pPr indent="0" lvl="0" marL="0" marR="0" rtl="0" algn="l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Clr>
                <a:srgbClr val="E4E9EF"/>
              </a:buClr>
              <a:buSzPts val="1200"/>
              <a:buFont typeface="IBM Plex Sans"/>
              <a:buNone/>
            </a:pPr>
            <a:r>
              <a:rPr b="0" i="0" lang="en-US" sz="1200" u="none" cap="none" strike="noStrike">
                <a:solidFill>
                  <a:srgbClr val="E4E9EF"/>
                </a:solidFill>
                <a:latin typeface="IBM Plex Sans"/>
                <a:ea typeface="IBM Plex Sans"/>
                <a:cs typeface="IBM Plex Sans"/>
                <a:sym typeface="IBM Plex Sans"/>
              </a:rPr>
              <a:t>Dead-letter automático a pagos.dlq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89" name="Google Shape;189;p9"/>
          <p:cNvSpPr/>
          <p:nvPr/>
        </p:nvSpPr>
        <p:spPr>
          <a:xfrm>
            <a:off x="8635909" y="3053048"/>
            <a:ext cx="2629207" cy="23881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/>
          <a:p>
            <a:pPr indent="0" lvl="0" marL="0" marR="0" rtl="0" algn="l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Clr>
                <a:srgbClr val="E4E9EF"/>
              </a:buClr>
              <a:buSzPts val="1200"/>
              <a:buFont typeface="IBM Plex Sans"/>
              <a:buNone/>
            </a:pPr>
            <a:r>
              <a:rPr b="0" i="0" lang="en-US" sz="1200" u="none" cap="none" strike="noStrike">
                <a:solidFill>
                  <a:srgbClr val="E4E9EF"/>
                </a:solidFill>
                <a:latin typeface="IBM Plex Sans"/>
                <a:ea typeface="IBM Plex Sans"/>
                <a:cs typeface="IBM Plex Sans"/>
                <a:sym typeface="IBM Plex Sans"/>
              </a:rPr>
              <a:t>deliver_get de pagos.dlq sube en 1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190" name="Google Shape;190;p9" title="03-rabbitmq-dlq.mp4">
            <a:hlinkClick r:id="rId3"/>
          </p:cNvPr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152400" y="1582374"/>
            <a:ext cx="8140608" cy="4579092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with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1000"/>
                                        <p:tgtEl>
                                          <p:spTgt spid="19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5F4EF"/>
        </a:solidFill>
      </p:bgPr>
    </p:bg>
    <p:spTree>
      <p:nvGrpSpPr>
        <p:cNvPr id="195" name="Shape 19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6" name="Google Shape;196;p10"/>
          <p:cNvSpPr/>
          <p:nvPr/>
        </p:nvSpPr>
        <p:spPr>
          <a:xfrm>
            <a:off x="609564" y="442602"/>
            <a:ext cx="5628732" cy="360579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/>
          <a:p>
            <a:pPr indent="0" lvl="0" marL="0" marR="0" rtl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>
                <a:srgbClr val="13233A"/>
              </a:buClr>
              <a:buSzPts val="2400"/>
              <a:buFont typeface="IBM Plex Sans"/>
              <a:buNone/>
            </a:pPr>
            <a:r>
              <a:rPr b="1" i="0" lang="en-US" sz="2400" u="none" cap="none" strike="noStrike">
                <a:solidFill>
                  <a:srgbClr val="13233A"/>
                </a:solidFill>
                <a:latin typeface="IBM Plex Sans"/>
                <a:ea typeface="IBM Plex Sans"/>
                <a:cs typeface="IBM Plex Sans"/>
                <a:sym typeface="IBM Plex Sans"/>
              </a:rPr>
              <a:t>Kafka: topics, particiones y checkpoint</a:t>
            </a:r>
            <a:endParaRPr b="0" i="0" sz="2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97" name="Google Shape;197;p10"/>
          <p:cNvSpPr/>
          <p:nvPr/>
        </p:nvSpPr>
        <p:spPr>
          <a:xfrm>
            <a:off x="1175309" y="907957"/>
            <a:ext cx="9841291" cy="5504259"/>
          </a:xfrm>
          <a:prstGeom prst="roundRect">
            <a:avLst>
              <a:gd fmla="val 1788" name="adj"/>
            </a:avLst>
          </a:prstGeom>
          <a:solidFill>
            <a:srgbClr val="FFFFFF"/>
          </a:solidFill>
          <a:ln cap="flat" cmpd="sng" w="9525">
            <a:solidFill>
              <a:srgbClr val="DEDBD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descr="Topología de Kafka: productores, topics ocupacion-clases, datos-entrenamiento, entrenamiento-resumen, consumer_offsets y changelog, consumer groups y Kafka Streams" id="198" name="Google Shape;198;p10"/>
          <p:cNvPicPr preferRelativeResize="0"/>
          <p:nvPr/>
        </p:nvPicPr>
        <p:blipFill rotWithShape="1">
          <a:blip r:embed="rId3">
            <a:alphaModFix/>
          </a:blip>
          <a:srcRect b="-21" l="0" r="0" t="-21"/>
          <a:stretch/>
        </p:blipFill>
        <p:spPr>
          <a:xfrm>
            <a:off x="1228689" y="961337"/>
            <a:ext cx="9734531" cy="53975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E4EFEC"/>
        </a:solidFill>
      </p:bgPr>
    </p:bg>
    <p:spTree>
      <p:nvGrpSpPr>
        <p:cNvPr id="203" name="Shape 20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4" name="Google Shape;204;p11"/>
          <p:cNvSpPr/>
          <p:nvPr/>
        </p:nvSpPr>
        <p:spPr>
          <a:xfrm>
            <a:off x="812782" y="1097266"/>
            <a:ext cx="10883429" cy="332708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/>
          <a:p>
            <a:pPr indent="0" lvl="0" marL="0" marR="0" rtl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>
                <a:srgbClr val="13233A"/>
              </a:buClr>
              <a:buSzPts val="2200"/>
              <a:buFont typeface="IBM Plex Sans"/>
              <a:buNone/>
            </a:pPr>
            <a:r>
              <a:rPr b="1" i="0" lang="en-US" sz="2200" u="none" cap="none" strike="noStrike">
                <a:solidFill>
                  <a:srgbClr val="13233A"/>
                </a:solidFill>
                <a:latin typeface="IBM Plex Sans"/>
                <a:ea typeface="IBM Plex Sans"/>
                <a:cs typeface="IBM Plex Sans"/>
                <a:sym typeface="IBM Plex Sans"/>
              </a:rPr>
              <a:t>DEMO · Ocupación de clases en tiempo real</a:t>
            </a:r>
            <a:endParaRPr b="0" i="0" sz="2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05" name="Google Shape;205;p11"/>
          <p:cNvSpPr/>
          <p:nvPr/>
        </p:nvSpPr>
        <p:spPr>
          <a:xfrm>
            <a:off x="8445409" y="1582359"/>
            <a:ext cx="2933628" cy="4178282"/>
          </a:xfrm>
          <a:prstGeom prst="roundRect">
            <a:avLst>
              <a:gd fmla="val 3463" name="adj"/>
            </a:avLst>
          </a:prstGeom>
          <a:solidFill>
            <a:srgbClr val="13233A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06" name="Google Shape;206;p11"/>
          <p:cNvSpPr/>
          <p:nvPr/>
        </p:nvSpPr>
        <p:spPr>
          <a:xfrm>
            <a:off x="8635909" y="1760141"/>
            <a:ext cx="2629207" cy="220951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/>
          <a:p>
            <a:pPr indent="0" lvl="0" marL="0" marR="0" rtl="0" algn="l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Clr>
                <a:srgbClr val="5FC2B0"/>
              </a:buClr>
              <a:buSzPts val="1100"/>
              <a:buFont typeface="JetBrains Mono"/>
              <a:buNone/>
            </a:pPr>
            <a:r>
              <a:rPr b="0" i="0" lang="en-US" sz="1100" u="none" cap="none" strike="noStrike">
                <a:solidFill>
                  <a:srgbClr val="5FC2B0"/>
                </a:solidFill>
                <a:latin typeface="JetBrains Mono"/>
                <a:ea typeface="JetBrains Mono"/>
                <a:cs typeface="JetBrains Mono"/>
                <a:sym typeface="JetBrains Mono"/>
              </a:rPr>
              <a:t>QUÉ MUESTRA EL VIDEO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07" name="Google Shape;207;p11"/>
          <p:cNvSpPr/>
          <p:nvPr/>
        </p:nvSpPr>
        <p:spPr>
          <a:xfrm>
            <a:off x="8635909" y="2069970"/>
            <a:ext cx="2629207" cy="452221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/>
          <a:p>
            <a:pPr indent="0" lvl="0" marL="0" marR="0" rtl="0" algn="l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Clr>
                <a:srgbClr val="E4E9EF"/>
              </a:buClr>
              <a:buSzPts val="1200"/>
              <a:buFont typeface="IBM Plex Sans"/>
              <a:buNone/>
            </a:pPr>
            <a:r>
              <a:rPr b="0" i="0" lang="en-US" sz="1200" u="none" cap="none" strike="noStrike">
                <a:solidFill>
                  <a:srgbClr val="E4E9EF"/>
                </a:solidFill>
                <a:latin typeface="IBM Plex Sans"/>
                <a:ea typeface="IBM Plex Sans"/>
                <a:cs typeface="IBM Plex Sans"/>
                <a:sym typeface="IBM Plex Sans"/>
              </a:rPr>
              <a:t>1 · POST /api/clases/1/ocupacion (14 personas)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08" name="Google Shape;208;p11"/>
          <p:cNvSpPr/>
          <p:nvPr/>
        </p:nvSpPr>
        <p:spPr>
          <a:xfrm>
            <a:off x="8635909" y="2611072"/>
            <a:ext cx="2629207" cy="452221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/>
          <a:p>
            <a:pPr indent="0" lvl="0" marL="0" marR="0" rtl="0" algn="l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Clr>
                <a:srgbClr val="E4E9EF"/>
              </a:buClr>
              <a:buSzPts val="1200"/>
              <a:buFont typeface="IBM Plex Sans"/>
              <a:buNone/>
            </a:pPr>
            <a:r>
              <a:rPr b="0" i="0" lang="en-US" sz="1200" u="none" cap="none" strike="noStrike">
                <a:solidFill>
                  <a:srgbClr val="E4E9EF"/>
                </a:solidFill>
                <a:latin typeface="IBM Plex Sans"/>
                <a:ea typeface="IBM Plex Sans"/>
                <a:cs typeface="IBM Plex Sans"/>
                <a:sym typeface="IBM Plex Sans"/>
              </a:rPr>
              <a:t>2 · El listener imprime el dashboard en tiempo real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09" name="Google Shape;209;p11"/>
          <p:cNvSpPr/>
          <p:nvPr/>
        </p:nvSpPr>
        <p:spPr>
          <a:xfrm>
            <a:off x="8635909" y="3152180"/>
            <a:ext cx="2629207" cy="452221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/>
          <a:p>
            <a:pPr indent="0" lvl="0" marL="0" marR="0" rtl="0" algn="l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Clr>
                <a:srgbClr val="E4E9EF"/>
              </a:buClr>
              <a:buSzPts val="1200"/>
              <a:buFont typeface="IBM Plex Sans"/>
              <a:buNone/>
            </a:pPr>
            <a:r>
              <a:rPr b="0" i="0" lang="en-US" sz="1200" u="none" cap="none" strike="noStrike">
                <a:solidFill>
                  <a:srgbClr val="E4E9EF"/>
                </a:solidFill>
                <a:latin typeface="IBM Plex Sans"/>
                <a:ea typeface="IBM Plex Sans"/>
                <a:cs typeface="IBM Plex Sans"/>
                <a:sym typeface="IBM Plex Sans"/>
              </a:rPr>
              <a:t>3 · Offset commiteado sube en 1, con lag 0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210" name="Google Shape;210;p11" title="04-kafka-ocupacion.mp4">
            <a:hlinkClick r:id="rId3"/>
          </p:cNvPr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152400" y="1582374"/>
            <a:ext cx="8140608" cy="4579092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with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1000"/>
                                        <p:tgtEl>
                                          <p:spTgt spid="2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E4EFEC"/>
        </a:solidFill>
      </p:bgPr>
    </p:bg>
    <p:spTree>
      <p:nvGrpSpPr>
        <p:cNvPr id="215" name="Shape 2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6" name="Google Shape;216;p12"/>
          <p:cNvSpPr/>
          <p:nvPr/>
        </p:nvSpPr>
        <p:spPr>
          <a:xfrm>
            <a:off x="812782" y="1097266"/>
            <a:ext cx="10883429" cy="332708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/>
          <a:p>
            <a:pPr indent="0" lvl="0" marL="0" marR="0" rtl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>
                <a:srgbClr val="13233A"/>
              </a:buClr>
              <a:buSzPts val="2200"/>
              <a:buFont typeface="IBM Plex Sans"/>
              <a:buNone/>
            </a:pPr>
            <a:r>
              <a:rPr b="1" i="0" lang="en-US" sz="2200" u="none" cap="none" strike="noStrike">
                <a:solidFill>
                  <a:srgbClr val="13233A"/>
                </a:solidFill>
                <a:latin typeface="IBM Plex Sans"/>
                <a:ea typeface="IBM Plex Sans"/>
                <a:cs typeface="IBM Plex Sans"/>
                <a:sym typeface="IBM Plex Sans"/>
              </a:rPr>
              <a:t>DEMO · Kafka Streams: resumen por ventana</a:t>
            </a:r>
            <a:endParaRPr b="0" i="0" sz="2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17" name="Google Shape;217;p12"/>
          <p:cNvSpPr/>
          <p:nvPr/>
        </p:nvSpPr>
        <p:spPr>
          <a:xfrm>
            <a:off x="8445409" y="1582353"/>
            <a:ext cx="2933628" cy="4178282"/>
          </a:xfrm>
          <a:prstGeom prst="roundRect">
            <a:avLst>
              <a:gd fmla="val 3463" name="adj"/>
            </a:avLst>
          </a:prstGeom>
          <a:solidFill>
            <a:srgbClr val="13233A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18" name="Google Shape;218;p12"/>
          <p:cNvSpPr/>
          <p:nvPr/>
        </p:nvSpPr>
        <p:spPr>
          <a:xfrm>
            <a:off x="8635909" y="1760141"/>
            <a:ext cx="2629207" cy="220951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/>
          <a:p>
            <a:pPr indent="0" lvl="0" marL="0" marR="0" rtl="0" algn="l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Clr>
                <a:srgbClr val="5FC2B0"/>
              </a:buClr>
              <a:buSzPts val="1100"/>
              <a:buFont typeface="JetBrains Mono"/>
              <a:buNone/>
            </a:pPr>
            <a:r>
              <a:rPr b="0" i="0" lang="en-US" sz="1100" u="none" cap="none" strike="noStrike">
                <a:solidFill>
                  <a:srgbClr val="5FC2B0"/>
                </a:solidFill>
                <a:latin typeface="JetBrains Mono"/>
                <a:ea typeface="JetBrains Mono"/>
                <a:cs typeface="JetBrains Mono"/>
                <a:sym typeface="JetBrains Mono"/>
              </a:rPr>
              <a:t>QUÉ MUESTRA EL VIDEO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19" name="Google Shape;219;p12"/>
          <p:cNvSpPr/>
          <p:nvPr/>
        </p:nvSpPr>
        <p:spPr>
          <a:xfrm>
            <a:off x="8635909" y="2069970"/>
            <a:ext cx="2629207" cy="452221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/>
          <a:p>
            <a:pPr indent="0" lvl="0" marL="0" marR="0" rtl="0" algn="l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Clr>
                <a:srgbClr val="E4E9EF"/>
              </a:buClr>
              <a:buSzPts val="1200"/>
              <a:buFont typeface="IBM Plex Sans"/>
              <a:buNone/>
            </a:pPr>
            <a:r>
              <a:rPr b="0" i="0" lang="en-US" sz="1200" u="none" cap="none" strike="noStrike">
                <a:solidFill>
                  <a:srgbClr val="E4E9EF"/>
                </a:solidFill>
                <a:latin typeface="IBM Plex Sans"/>
                <a:ea typeface="IBM Plex Sans"/>
                <a:cs typeface="IBM Plex Sans"/>
                <a:sym typeface="IBM Plex Sans"/>
              </a:rPr>
              <a:t>1 · 2 entrenamientos del miembro 1 (45 min/400 cal, 30 min/250 cal)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20" name="Google Shape;220;p12"/>
          <p:cNvSpPr/>
          <p:nvPr/>
        </p:nvSpPr>
        <p:spPr>
          <a:xfrm>
            <a:off x="8635909" y="2611072"/>
            <a:ext cx="2629207" cy="452221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/>
          <a:p>
            <a:pPr indent="0" lvl="0" marL="0" marR="0" rtl="0" algn="l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Clr>
                <a:srgbClr val="E4E9EF"/>
              </a:buClr>
              <a:buSzPts val="1200"/>
              <a:buFont typeface="IBM Plex Sans"/>
              <a:buNone/>
            </a:pPr>
            <a:r>
              <a:rPr b="0" i="0" lang="en-US" sz="1200" u="none" cap="none" strike="noStrike">
                <a:solidFill>
                  <a:srgbClr val="E4E9EF"/>
                </a:solidFill>
                <a:latin typeface="IBM Plex Sans"/>
                <a:ea typeface="IBM Plex Sans"/>
                <a:cs typeface="IBM Plex Sans"/>
                <a:sym typeface="IBM Plex Sans"/>
              </a:rPr>
              <a:t>2 · Kafka Streams agrega por ventana de 5 min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21" name="Google Shape;221;p12"/>
          <p:cNvSpPr/>
          <p:nvPr/>
        </p:nvSpPr>
        <p:spPr>
          <a:xfrm>
            <a:off x="8635909" y="3152180"/>
            <a:ext cx="2629207" cy="452221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/>
          <a:p>
            <a:pPr indent="0" lvl="0" marL="0" marR="0" rtl="0" algn="l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Clr>
                <a:srgbClr val="E4E9EF"/>
              </a:buClr>
              <a:buSzPts val="1200"/>
              <a:buFont typeface="IBM Plex Sans"/>
              <a:buNone/>
            </a:pPr>
            <a:r>
              <a:rPr b="0" i="0" lang="en-US" sz="1200" u="none" cap="none" strike="noStrike">
                <a:solidFill>
                  <a:srgbClr val="E4E9EF"/>
                </a:solidFill>
                <a:latin typeface="IBM Plex Sans"/>
                <a:ea typeface="IBM Plex Sans"/>
                <a:cs typeface="IBM Plex Sans"/>
                <a:sym typeface="IBM Plex Sans"/>
              </a:rPr>
              <a:t>3 · Resumen: 2 sesiones, 75 min, 650 cal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222" name="Google Shape;222;p12" title="05-kafka-streams.mp4">
            <a:hlinkClick r:id="rId3"/>
          </p:cNvPr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152400" y="1582374"/>
            <a:ext cx="8140608" cy="4579092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with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1000"/>
                                        <p:tgtEl>
                                          <p:spTgt spid="2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E4EFEC"/>
        </a:solidFill>
      </p:bgPr>
    </p:bg>
    <p:spTree>
      <p:nvGrpSpPr>
        <p:cNvPr id="227" name="Shape 22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8" name="Google Shape;228;p13"/>
          <p:cNvSpPr/>
          <p:nvPr/>
        </p:nvSpPr>
        <p:spPr>
          <a:xfrm>
            <a:off x="812782" y="1097266"/>
            <a:ext cx="10883429" cy="332708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/>
          <a:p>
            <a:pPr indent="0" lvl="0" marL="0" marR="0" rtl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>
                <a:srgbClr val="13233A"/>
              </a:buClr>
              <a:buSzPts val="2200"/>
              <a:buFont typeface="IBM Plex Sans"/>
              <a:buNone/>
            </a:pPr>
            <a:r>
              <a:rPr b="1" i="0" lang="en-US" sz="2200" u="none" cap="none" strike="noStrike">
                <a:solidFill>
                  <a:srgbClr val="13233A"/>
                </a:solidFill>
                <a:latin typeface="IBM Plex Sans"/>
                <a:ea typeface="IBM Plex Sans"/>
                <a:cs typeface="IBM Plex Sans"/>
                <a:sym typeface="IBM Plex Sans"/>
              </a:rPr>
              <a:t>DEMO · Recuperación: checkpoint y reproceso</a:t>
            </a:r>
            <a:endParaRPr b="0" i="0" sz="2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29" name="Google Shape;229;p13"/>
          <p:cNvSpPr/>
          <p:nvPr/>
        </p:nvSpPr>
        <p:spPr>
          <a:xfrm>
            <a:off x="8445409" y="1582353"/>
            <a:ext cx="2933628" cy="4178282"/>
          </a:xfrm>
          <a:prstGeom prst="roundRect">
            <a:avLst>
              <a:gd fmla="val 3463" name="adj"/>
            </a:avLst>
          </a:prstGeom>
          <a:solidFill>
            <a:srgbClr val="13233A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30" name="Google Shape;230;p13"/>
          <p:cNvSpPr/>
          <p:nvPr/>
        </p:nvSpPr>
        <p:spPr>
          <a:xfrm>
            <a:off x="8635909" y="1760141"/>
            <a:ext cx="2629207" cy="220951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/>
          <a:p>
            <a:pPr indent="0" lvl="0" marL="0" marR="0" rtl="0" algn="l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Clr>
                <a:srgbClr val="5FC2B0"/>
              </a:buClr>
              <a:buSzPts val="1100"/>
              <a:buFont typeface="JetBrains Mono"/>
              <a:buNone/>
            </a:pPr>
            <a:r>
              <a:rPr b="0" i="0" lang="en-US" sz="1100" u="none" cap="none" strike="noStrike">
                <a:solidFill>
                  <a:srgbClr val="5FC2B0"/>
                </a:solidFill>
                <a:latin typeface="JetBrains Mono"/>
                <a:ea typeface="JetBrains Mono"/>
                <a:cs typeface="JetBrains Mono"/>
                <a:sym typeface="JetBrains Mono"/>
              </a:rPr>
              <a:t>QUÉ MUESTRA EL VIDEO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31" name="Google Shape;231;p13"/>
          <p:cNvSpPr/>
          <p:nvPr/>
        </p:nvSpPr>
        <p:spPr>
          <a:xfrm>
            <a:off x="8635909" y="2069970"/>
            <a:ext cx="2629207" cy="23881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/>
          <a:p>
            <a:pPr indent="0" lvl="0" marL="0" marR="0" rtl="0" algn="l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Clr>
                <a:srgbClr val="E4E9EF"/>
              </a:buClr>
              <a:buSzPts val="1200"/>
              <a:buFont typeface="IBM Plex Sans"/>
              <a:buNone/>
            </a:pPr>
            <a:r>
              <a:rPr b="0" i="0" lang="en-US" sz="1200" u="none" cap="none" strike="noStrike">
                <a:solidFill>
                  <a:srgbClr val="E4E9EF"/>
                </a:solidFill>
                <a:latin typeface="IBM Plex Sans"/>
                <a:ea typeface="IBM Plex Sans"/>
                <a:cs typeface="IBM Plex Sans"/>
                <a:sym typeface="IBM Plex Sans"/>
              </a:rPr>
              <a:t>1 · Reinicio de ms-programacion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32" name="Google Shape;232;p13"/>
          <p:cNvSpPr/>
          <p:nvPr/>
        </p:nvSpPr>
        <p:spPr>
          <a:xfrm>
            <a:off x="8635909" y="2397665"/>
            <a:ext cx="2629207" cy="452221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/>
          <a:p>
            <a:pPr indent="0" lvl="0" marL="0" marR="0" rtl="0" algn="l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Clr>
                <a:srgbClr val="E4E9EF"/>
              </a:buClr>
              <a:buSzPts val="1200"/>
              <a:buFont typeface="IBM Plex Sans"/>
              <a:buNone/>
            </a:pPr>
            <a:r>
              <a:rPr b="0" i="0" lang="en-US" sz="1200" u="none" cap="none" strike="noStrike">
                <a:solidFill>
                  <a:srgbClr val="E4E9EF"/>
                </a:solidFill>
                <a:latin typeface="IBM Plex Sans"/>
                <a:ea typeface="IBM Plex Sans"/>
                <a:cs typeface="IBM Plex Sans"/>
                <a:sym typeface="IBM Plex Sans"/>
              </a:rPr>
              <a:t>2 · Retoma desde el offset commiteado, sin reprocesar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33" name="Google Shape;233;p13"/>
          <p:cNvSpPr/>
          <p:nvPr/>
        </p:nvSpPr>
        <p:spPr>
          <a:xfrm>
            <a:off x="8635909" y="2938766"/>
            <a:ext cx="2629207" cy="452221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/>
          <a:p>
            <a:pPr indent="0" lvl="0" marL="0" marR="0" rtl="0" algn="l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Clr>
                <a:srgbClr val="E4E9EF"/>
              </a:buClr>
              <a:buSzPts val="1200"/>
              <a:buFont typeface="IBM Plex Sans"/>
              <a:buNone/>
            </a:pPr>
            <a:r>
              <a:rPr b="0" i="0" lang="en-US" sz="1200" u="none" cap="none" strike="noStrike">
                <a:solidFill>
                  <a:srgbClr val="E4E9EF"/>
                </a:solidFill>
                <a:latin typeface="IBM Plex Sans"/>
                <a:ea typeface="IBM Plex Sans"/>
                <a:cs typeface="IBM Plex Sans"/>
                <a:sym typeface="IBM Plex Sans"/>
              </a:rPr>
              <a:t>3 · Reproceso manual desde offset 0 (7 mensajes retenidos)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234" name="Google Shape;234;p13" title="06-kafka-recuperacion.mp4">
            <a:hlinkClick r:id="rId3"/>
          </p:cNvPr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152400" y="1582374"/>
            <a:ext cx="8140608" cy="4579092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with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1000"/>
                                        <p:tgtEl>
                                          <p:spTgt spid="23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theme/theme1.xml><?xml version="1.0" encoding="utf-8"?>
<a:theme xmlns:a="http://schemas.openxmlformats.org/drawingml/2006/main" xmlns:r="http://schemas.openxmlformats.org/officeDocument/2006/relationships" name="Office Theme">
  <a:themeElements>
    <a:clrScheme name="Offic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 name="Office Theme">
  <a:themeElements>
    <a:clrScheme name="Offic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terms:created xsi:type="dcterms:W3CDTF">2026-09-27T15:22:54Z</dcterms:created>
  <dc:creator>PptxGenJS</dc:creator>
</cp:coreProperties>
</file>